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12192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Theme">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4F0E8"/>
          </a:solidFill>
          <a:ln>
            <a:noFill/>
          </a:ln>
        </p:spPr>
        <p:txBody>
          <a:bodyPr/>
          <a:lstStyle/>
          <a:p/>
        </p:txBody>
      </p:sp>
      <p:sp>
        <p:nvSpPr>
          <p:cNvPr id="3" name="Top Wash"/>
          <p:cNvSpPr/>
          <p:nvPr/>
        </p:nvSpPr>
        <p:spPr>
          <a:xfrm>
            <a:off x="0" y="0"/>
            <a:ext cx="12192000" cy="1080000"/>
          </a:xfrm>
          <a:prstGeom prst="rect">
            <a:avLst/>
          </a:prstGeom>
          <a:solidFill>
            <a:srgbClr val="E7EFEA"/>
          </a:solidFill>
          <a:ln>
            <a:noFill/>
          </a:ln>
        </p:spPr>
        <p:txBody>
          <a:bodyPr/>
          <a:lstStyle/>
          <a:p/>
        </p:txBody>
      </p:sp>
      <p:sp>
        <p:nvSpPr>
          <p:cNvPr id="4" name="Header Band"/>
          <p:cNvSpPr/>
          <p:nvPr/>
        </p:nvSpPr>
        <p:spPr>
          <a:xfrm>
            <a:off x="0" y="0"/>
            <a:ext cx="12192000" cy="900000"/>
          </a:xfrm>
          <a:prstGeom prst="rect">
            <a:avLst/>
          </a:prstGeom>
          <a:solidFill>
            <a:srgbClr val="173F43"/>
          </a:solidFill>
          <a:ln>
            <a:noFill/>
          </a:ln>
        </p:spPr>
        <p:txBody>
          <a:bodyPr/>
          <a:lstStyle/>
          <a:p/>
        </p:txBody>
      </p:sp>
      <p:sp>
        <p:nvSpPr>
          <p:cNvPr id="5" name="Accent Dot Left"/>
          <p:cNvSpPr/>
          <p:nvPr/>
        </p:nvSpPr>
        <p:spPr>
          <a:xfrm>
            <a:off x="-180000" y="910000"/>
            <a:ext cx="1350000" cy="1350000"/>
          </a:xfrm>
          <a:prstGeom prst="ellipse">
            <a:avLst/>
          </a:prstGeom>
          <a:solidFill>
            <a:srgbClr val="D8E6E1"/>
          </a:solidFill>
          <a:ln>
            <a:noFill/>
          </a:ln>
        </p:spPr>
        <p:txBody>
          <a:bodyPr/>
          <a:lstStyle/>
          <a:p/>
        </p:txBody>
      </p:sp>
      <p:sp>
        <p:nvSpPr>
          <p:cNvPr id="6" name="Accent Dot Right"/>
          <p:cNvSpPr/>
          <p:nvPr/>
        </p:nvSpPr>
        <p:spPr>
          <a:xfrm>
            <a:off x="10950000" y="5150000"/>
            <a:ext cx="1500000" cy="1500000"/>
          </a:xfrm>
          <a:prstGeom prst="ellipse">
            <a:avLst/>
          </a:prstGeom>
          <a:solidFill>
            <a:srgbClr val="E7D7C4"/>
          </a:solidFill>
          <a:ln>
            <a:noFill/>
          </a:ln>
        </p:spPr>
        <p:txBody>
          <a:bodyPr/>
          <a:lstStyle/>
          <a:p/>
        </p:txBody>
      </p:sp>
      <p:sp>
        <p:nvSpPr>
          <p:cNvPr id="7" name="Footer Line"/>
          <p:cNvSpPr/>
          <p:nvPr/>
        </p:nvSpPr>
        <p:spPr>
          <a:xfrm>
            <a:off x="0" y="6430000"/>
            <a:ext cx="12192000" cy="80000"/>
          </a:xfrm>
          <a:prstGeom prst="rect">
            <a:avLst/>
          </a:prstGeom>
          <a:solidFill>
            <a:srgbClr val="A56A43"/>
          </a:solidFill>
          <a:ln>
            <a:noFill/>
          </a:ln>
        </p:spPr>
        <p:txBody>
          <a:bodyPr/>
          <a:lstStyle/>
          <a:p/>
        </p:txBody>
      </p:sp>
      <p:sp>
        <p:nvSpPr>
          <p:cNvPr id="8" name="Title Card"/>
          <p:cNvSpPr/>
          <p:nvPr/>
        </p:nvSpPr>
        <p:spPr>
          <a:xfrm>
            <a:off x="330000" y="130000"/>
            <a:ext cx="11520000" cy="710000"/>
          </a:xfrm>
          <a:prstGeom prst="roundRect">
            <a:avLst/>
          </a:prstGeom>
          <a:solidFill>
            <a:srgbClr val="173F43"/>
          </a:solidFill>
          <a:ln>
            <a:noFill/>
          </a:ln>
        </p:spPr>
        <p:txBody>
          <a:bodyPr/>
          <a:lstStyle/>
          <a:p/>
        </p:txBody>
      </p:sp>
      <p:sp>
        <p:nvSpPr>
          <p:cNvPr id="9" name="Title"/>
          <p:cNvSpPr txBox="1"/>
          <p:nvPr/>
        </p:nvSpPr>
        <p:spPr>
          <a:xfrm>
            <a:off x="420000" y="140000"/>
            <a:ext cx="10900000" cy="620000"/>
          </a:xfrm>
          <a:prstGeom prst="rect">
            <a:avLst/>
          </a:prstGeom>
          <a:noFill/>
          <a:ln>
            <a:noFill/>
          </a:ln>
        </p:spPr>
        <p:txBody>
          <a:bodyPr wrap="square" lIns="91440" tIns="45720" rIns="91440" bIns="45720" anchor="t"/>
          <a:lstStyle/>
          <a:p>
            <a:r>
              <a:rPr lang="en-US" sz="2360" b="1" dirty="0" smtClean="0">
                <a:solidFill>
                  <a:srgbClr val="FFFFFF"/>
                </a:solidFill>
              </a:rPr>
              <a:t>AI-Powered Resume Analyzer: ATS and Job-Fit Feedback</a:t>
            </a:r>
          </a:p>
          <a:p>
            <a:r>
              <a:rPr lang="en-US" sz="1160" dirty="0" smtClean="0">
                <a:solidFill>
                  <a:srgbClr val="DCE9E5"/>
                </a:solidFill>
              </a:rPr>
              <a:t>Author: Firoz Khan Patan</a:t>
            </a:r>
          </a:p>
          <a:p>
            <a:r>
              <a:rPr lang="en-US" sz="1080" dirty="0" smtClean="0">
                <a:solidFill>
                  <a:srgbClr val="DCE9E5"/>
                </a:solidFill>
              </a:rPr>
              <a:t>Faculty Advisor: Dr. Krzysztof J. Kochut</a:t>
            </a:r>
          </a:p>
        </p:txBody>
      </p:sp>
      <p:sp>
        <p:nvSpPr>
          <p:cNvPr id="10" name="Problem Card"/>
          <p:cNvSpPr/>
          <p:nvPr/>
        </p:nvSpPr>
        <p:spPr>
          <a:xfrm>
            <a:off x="330000" y="1180000"/>
            <a:ext cx="3560000" cy="1450000"/>
          </a:xfrm>
          <a:prstGeom prst="roundRect">
            <a:avLst/>
          </a:prstGeom>
          <a:solidFill>
            <a:srgbClr val="FCFBF8"/>
          </a:solidFill>
          <a:ln w="12700">
            <a:solidFill>
              <a:srgbClr val="D7D2C8"/>
            </a:solidFill>
          </a:ln>
        </p:spPr>
        <p:txBody>
          <a:bodyPr/>
          <a:lstStyle/>
          <a:p/>
        </p:txBody>
      </p:sp>
      <p:sp>
        <p:nvSpPr>
          <p:cNvPr id="11" name="Problem Accent"/>
          <p:cNvSpPr/>
          <p:nvPr/>
        </p:nvSpPr>
        <p:spPr>
          <a:xfrm>
            <a:off x="330000" y="1180000"/>
            <a:ext cx="3560000" cy="110000"/>
          </a:xfrm>
          <a:prstGeom prst="roundRect">
            <a:avLst/>
          </a:prstGeom>
          <a:solidFill>
            <a:srgbClr val="9C6644"/>
          </a:solidFill>
          <a:ln>
            <a:noFill/>
          </a:ln>
        </p:spPr>
        <p:txBody>
          <a:bodyPr/>
          <a:lstStyle/>
          <a:p/>
        </p:txBody>
      </p:sp>
      <p:sp>
        <p:nvSpPr>
          <p:cNvPr id="12" name="Problem Text"/>
          <p:cNvSpPr txBox="1"/>
          <p:nvPr/>
        </p:nvSpPr>
        <p:spPr>
          <a:xfrm>
            <a:off x="420000" y="131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Problem</a:t>
            </a:r>
          </a:p>
          <a:p>
            <a:r>
              <a:rPr lang="en-US" sz="1020" dirty="0" smtClean="0">
                <a:solidFill>
                  <a:srgbClr val="334155"/>
                </a:solidFill>
              </a:rPr>
              <a:t>Many applicants send the same resume to every role.</a:t>
            </a:r>
          </a:p>
          <a:p>
            <a:r>
              <a:rPr lang="en-US" sz="1020" dirty="0" smtClean="0">
                <a:solidFill>
                  <a:srgbClr val="334155"/>
                </a:solidFill>
              </a:rPr>
              <a:t>ATS requirements are hard to judge before an application is submitted.</a:t>
            </a:r>
          </a:p>
        </p:txBody>
      </p:sp>
      <p:sp>
        <p:nvSpPr>
          <p:cNvPr id="13" name="Solution Card"/>
          <p:cNvSpPr/>
          <p:nvPr/>
        </p:nvSpPr>
        <p:spPr>
          <a:xfrm>
            <a:off x="4100000" y="1180000"/>
            <a:ext cx="3560000" cy="1450000"/>
          </a:xfrm>
          <a:prstGeom prst="roundRect">
            <a:avLst/>
          </a:prstGeom>
          <a:solidFill>
            <a:srgbClr val="FCFBF8"/>
          </a:solidFill>
          <a:ln w="12700">
            <a:solidFill>
              <a:srgbClr val="D7D2C8"/>
            </a:solidFill>
          </a:ln>
        </p:spPr>
        <p:txBody>
          <a:bodyPr/>
          <a:lstStyle/>
          <a:p/>
        </p:txBody>
      </p:sp>
      <p:sp>
        <p:nvSpPr>
          <p:cNvPr id="14" name="Solution Accent"/>
          <p:cNvSpPr/>
          <p:nvPr/>
        </p:nvSpPr>
        <p:spPr>
          <a:xfrm>
            <a:off x="4100000" y="1180000"/>
            <a:ext cx="3560000" cy="110000"/>
          </a:xfrm>
          <a:prstGeom prst="roundRect">
            <a:avLst/>
          </a:prstGeom>
          <a:solidFill>
            <a:srgbClr val="3E6B6F"/>
          </a:solidFill>
          <a:ln>
            <a:noFill/>
          </a:ln>
        </p:spPr>
        <p:txBody>
          <a:bodyPr/>
          <a:lstStyle/>
          <a:p/>
        </p:txBody>
      </p:sp>
      <p:sp>
        <p:nvSpPr>
          <p:cNvPr id="15" name="Solution Text"/>
          <p:cNvSpPr txBox="1"/>
          <p:nvPr/>
        </p:nvSpPr>
        <p:spPr>
          <a:xfrm>
            <a:off x="4190000" y="131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Solution</a:t>
            </a:r>
          </a:p>
          <a:p>
            <a:r>
              <a:rPr lang="en-US" sz="1020" dirty="0" smtClean="0">
                <a:solidFill>
                  <a:srgbClr val="334155"/>
                </a:solidFill>
              </a:rPr>
              <a:t>The Resume Analyzer checks an uploaded PDF against a real job description.</a:t>
            </a:r>
          </a:p>
          <a:p>
            <a:r>
              <a:rPr lang="en-US" sz="1020" dirty="0" smtClean="0">
                <a:solidFill>
                  <a:srgbClr val="334155"/>
                </a:solidFill>
              </a:rPr>
              <a:t>It returns section scores, fit signals, and revision notes.</a:t>
            </a:r>
          </a:p>
        </p:txBody>
      </p:sp>
      <p:sp>
        <p:nvSpPr>
          <p:cNvPr id="16" name="System Design Card"/>
          <p:cNvSpPr/>
          <p:nvPr/>
        </p:nvSpPr>
        <p:spPr>
          <a:xfrm>
            <a:off x="7870000" y="1180000"/>
            <a:ext cx="3560000" cy="1450000"/>
          </a:xfrm>
          <a:prstGeom prst="roundRect">
            <a:avLst/>
          </a:prstGeom>
          <a:solidFill>
            <a:srgbClr val="FCFBF8"/>
          </a:solidFill>
          <a:ln w="12700">
            <a:solidFill>
              <a:srgbClr val="D7D2C8"/>
            </a:solidFill>
          </a:ln>
        </p:spPr>
        <p:txBody>
          <a:bodyPr/>
          <a:lstStyle/>
          <a:p/>
        </p:txBody>
      </p:sp>
      <p:sp>
        <p:nvSpPr>
          <p:cNvPr id="17" name="System Design Accent"/>
          <p:cNvSpPr/>
          <p:nvPr/>
        </p:nvSpPr>
        <p:spPr>
          <a:xfrm>
            <a:off x="7870000" y="1180000"/>
            <a:ext cx="3560000" cy="110000"/>
          </a:xfrm>
          <a:prstGeom prst="roundRect">
            <a:avLst/>
          </a:prstGeom>
          <a:solidFill>
            <a:srgbClr val="6F8C69"/>
          </a:solidFill>
          <a:ln>
            <a:noFill/>
          </a:ln>
        </p:spPr>
        <p:txBody>
          <a:bodyPr/>
          <a:lstStyle/>
          <a:p/>
        </p:txBody>
      </p:sp>
      <p:sp>
        <p:nvSpPr>
          <p:cNvPr id="18" name="System Design Text"/>
          <p:cNvSpPr txBox="1"/>
          <p:nvPr/>
        </p:nvSpPr>
        <p:spPr>
          <a:xfrm>
            <a:off x="7960000" y="131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System Design</a:t>
            </a:r>
          </a:p>
          <a:p>
            <a:r>
              <a:rPr lang="en-US" sz="1020" dirty="0" smtClean="0">
                <a:solidFill>
                  <a:srgbClr val="334155"/>
                </a:solidFill>
              </a:rPr>
              <a:t>Frontend: React Router + TypeScript + Zustand.</a:t>
            </a:r>
          </a:p>
          <a:p>
            <a:r>
              <a:rPr lang="en-US" sz="1020" dirty="0" smtClean="0">
                <a:solidFill>
                  <a:srgbClr val="334155"/>
                </a:solidFill>
              </a:rPr>
              <a:t>Services: Puter auth, file storage, KV persistence, and AI feedback APIs.</a:t>
            </a:r>
          </a:p>
          <a:p>
            <a:r>
              <a:rPr lang="en-US" sz="1020" dirty="0" smtClean="0">
                <a:solidFill>
                  <a:srgbClr val="334155"/>
                </a:solidFill>
              </a:rPr>
              <a:t>PDFs are converted into preview images before analysis.</a:t>
            </a:r>
          </a:p>
        </p:txBody>
      </p:sp>
      <p:sp>
        <p:nvSpPr>
          <p:cNvPr id="19" name="Workflow Card"/>
          <p:cNvSpPr/>
          <p:nvPr/>
        </p:nvSpPr>
        <p:spPr>
          <a:xfrm>
            <a:off x="330000" y="2850000"/>
            <a:ext cx="3560000" cy="1450000"/>
          </a:xfrm>
          <a:prstGeom prst="roundRect">
            <a:avLst/>
          </a:prstGeom>
          <a:solidFill>
            <a:srgbClr val="FCFBF8"/>
          </a:solidFill>
          <a:ln w="12700">
            <a:solidFill>
              <a:srgbClr val="D7D2C8"/>
            </a:solidFill>
          </a:ln>
        </p:spPr>
        <p:txBody>
          <a:bodyPr/>
          <a:lstStyle/>
          <a:p/>
        </p:txBody>
      </p:sp>
      <p:sp>
        <p:nvSpPr>
          <p:cNvPr id="20" name="Workflow Accent"/>
          <p:cNvSpPr/>
          <p:nvPr/>
        </p:nvSpPr>
        <p:spPr>
          <a:xfrm>
            <a:off x="330000" y="2850000"/>
            <a:ext cx="3560000" cy="110000"/>
          </a:xfrm>
          <a:prstGeom prst="roundRect">
            <a:avLst/>
          </a:prstGeom>
          <a:solidFill>
            <a:srgbClr val="7B6D8D"/>
          </a:solidFill>
          <a:ln>
            <a:noFill/>
          </a:ln>
        </p:spPr>
        <p:txBody>
          <a:bodyPr/>
          <a:lstStyle/>
          <a:p/>
        </p:txBody>
      </p:sp>
      <p:sp>
        <p:nvSpPr>
          <p:cNvPr id="21" name="Workflow Text"/>
          <p:cNvSpPr txBox="1"/>
          <p:nvPr/>
        </p:nvSpPr>
        <p:spPr>
          <a:xfrm>
            <a:off x="420000" y="298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Workflow</a:t>
            </a:r>
          </a:p>
          <a:p>
            <a:r>
              <a:rPr lang="en-US" sz="1020" dirty="0" smtClean="0">
                <a:solidFill>
                  <a:srgbClr val="334155"/>
                </a:solidFill>
              </a:rPr>
              <a:t>1. User signs in and uploads a resume PDF.</a:t>
            </a:r>
          </a:p>
          <a:p>
            <a:r>
              <a:rPr lang="en-US" sz="1020" dirty="0" smtClean="0">
                <a:solidFill>
                  <a:srgbClr val="334155"/>
                </a:solidFill>
              </a:rPr>
              <a:t>2. App captures company, job title, and job description.</a:t>
            </a:r>
          </a:p>
          <a:p>
            <a:r>
              <a:rPr lang="en-US" sz="1020" dirty="0" smtClean="0">
                <a:solidFill>
                  <a:srgbClr val="334155"/>
                </a:solidFill>
              </a:rPr>
              <a:t>3. AI returns structured JSON feedback and overall scoring.</a:t>
            </a:r>
          </a:p>
        </p:txBody>
      </p:sp>
      <p:sp>
        <p:nvSpPr>
          <p:cNvPr id="22" name="Key Outputs Card"/>
          <p:cNvSpPr/>
          <p:nvPr/>
        </p:nvSpPr>
        <p:spPr>
          <a:xfrm>
            <a:off x="4100000" y="2850000"/>
            <a:ext cx="3560000" cy="1450000"/>
          </a:xfrm>
          <a:prstGeom prst="roundRect">
            <a:avLst/>
          </a:prstGeom>
          <a:solidFill>
            <a:srgbClr val="FCFBF8"/>
          </a:solidFill>
          <a:ln w="12700">
            <a:solidFill>
              <a:srgbClr val="D7D2C8"/>
            </a:solidFill>
          </a:ln>
        </p:spPr>
        <p:txBody>
          <a:bodyPr/>
          <a:lstStyle/>
          <a:p/>
        </p:txBody>
      </p:sp>
      <p:sp>
        <p:nvSpPr>
          <p:cNvPr id="23" name="Key Outputs Accent"/>
          <p:cNvSpPr/>
          <p:nvPr/>
        </p:nvSpPr>
        <p:spPr>
          <a:xfrm>
            <a:off x="4100000" y="2850000"/>
            <a:ext cx="3560000" cy="110000"/>
          </a:xfrm>
          <a:prstGeom prst="roundRect">
            <a:avLst/>
          </a:prstGeom>
          <a:solidFill>
            <a:srgbClr val="4F7C82"/>
          </a:solidFill>
          <a:ln>
            <a:noFill/>
          </a:ln>
        </p:spPr>
        <p:txBody>
          <a:bodyPr/>
          <a:lstStyle/>
          <a:p/>
        </p:txBody>
      </p:sp>
      <p:sp>
        <p:nvSpPr>
          <p:cNvPr id="24" name="Key Outputs Text"/>
          <p:cNvSpPr txBox="1"/>
          <p:nvPr/>
        </p:nvSpPr>
        <p:spPr>
          <a:xfrm>
            <a:off x="4190000" y="298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Key Outputs</a:t>
            </a:r>
          </a:p>
          <a:p>
            <a:r>
              <a:rPr lang="en-US" sz="1020" dirty="0" smtClean="0">
                <a:solidFill>
                  <a:srgbClr val="334155"/>
                </a:solidFill>
              </a:rPr>
              <a:t>ATS score</a:t>
            </a:r>
          </a:p>
          <a:p>
            <a:r>
              <a:rPr lang="en-US" sz="1020" dirty="0" smtClean="0">
                <a:solidFill>
                  <a:srgbClr val="334155"/>
                </a:solidFill>
              </a:rPr>
              <a:t>Tone and style score</a:t>
            </a:r>
          </a:p>
          <a:p>
            <a:r>
              <a:rPr lang="en-US" sz="1020" dirty="0" smtClean="0">
                <a:solidFill>
                  <a:srgbClr val="334155"/>
                </a:solidFill>
              </a:rPr>
              <a:t>Content, structure, and skills feedback</a:t>
            </a:r>
          </a:p>
          <a:p>
            <a:r>
              <a:rPr lang="en-US" sz="1020" dirty="0" smtClean="0">
                <a:solidFill>
                  <a:srgbClr val="334155"/>
                </a:solidFill>
              </a:rPr>
              <a:t>Actionable tips shown in the review dashboard</a:t>
            </a:r>
          </a:p>
        </p:txBody>
      </p:sp>
      <p:sp>
        <p:nvSpPr>
          <p:cNvPr id="25" name="Impact Card"/>
          <p:cNvSpPr/>
          <p:nvPr/>
        </p:nvSpPr>
        <p:spPr>
          <a:xfrm>
            <a:off x="7870000" y="2850000"/>
            <a:ext cx="3560000" cy="1450000"/>
          </a:xfrm>
          <a:prstGeom prst="roundRect">
            <a:avLst/>
          </a:prstGeom>
          <a:solidFill>
            <a:srgbClr val="FCFBF8"/>
          </a:solidFill>
          <a:ln w="12700">
            <a:solidFill>
              <a:srgbClr val="D7D2C8"/>
            </a:solidFill>
          </a:ln>
        </p:spPr>
        <p:txBody>
          <a:bodyPr/>
          <a:lstStyle/>
          <a:p/>
        </p:txBody>
      </p:sp>
      <p:sp>
        <p:nvSpPr>
          <p:cNvPr id="26" name="Impact Accent"/>
          <p:cNvSpPr/>
          <p:nvPr/>
        </p:nvSpPr>
        <p:spPr>
          <a:xfrm>
            <a:off x="7870000" y="2850000"/>
            <a:ext cx="3560000" cy="110000"/>
          </a:xfrm>
          <a:prstGeom prst="roundRect">
            <a:avLst/>
          </a:prstGeom>
          <a:solidFill>
            <a:srgbClr val="B07A4F"/>
          </a:solidFill>
          <a:ln>
            <a:noFill/>
          </a:ln>
        </p:spPr>
        <p:txBody>
          <a:bodyPr/>
          <a:lstStyle/>
          <a:p/>
        </p:txBody>
      </p:sp>
      <p:sp>
        <p:nvSpPr>
          <p:cNvPr id="27" name="Impact Text"/>
          <p:cNvSpPr txBox="1"/>
          <p:nvPr/>
        </p:nvSpPr>
        <p:spPr>
          <a:xfrm>
            <a:off x="7960000" y="2980000"/>
            <a:ext cx="3380000" cy="1270000"/>
          </a:xfrm>
          <a:prstGeom prst="rect">
            <a:avLst/>
          </a:prstGeom>
          <a:noFill/>
          <a:ln>
            <a:noFill/>
          </a:ln>
        </p:spPr>
        <p:txBody>
          <a:bodyPr wrap="square" lIns="91440" tIns="45720" rIns="91440" bIns="45720" anchor="t"/>
          <a:lstStyle/>
          <a:p>
            <a:r>
              <a:rPr lang="en-US" sz="1560" b="1" dirty="0" smtClean="0">
                <a:solidFill>
                  <a:srgbClr val="173F43"/>
                </a:solidFill>
              </a:rPr>
              <a:t>Impact</a:t>
            </a:r>
          </a:p>
          <a:p>
            <a:r>
              <a:rPr lang="en-US" sz="1020" dirty="0" smtClean="0">
                <a:solidFill>
                  <a:srgbClr val="334155"/>
                </a:solidFill>
              </a:rPr>
              <a:t>Turns resume review into a guided and repeatable process.</a:t>
            </a:r>
          </a:p>
          <a:p>
            <a:r>
              <a:rPr lang="en-US" sz="1020" dirty="0" smtClean="0">
                <a:solidFill>
                  <a:srgbClr val="334155"/>
                </a:solidFill>
              </a:rPr>
              <a:t>Helps users revise resumes around role-specific evidence.</a:t>
            </a:r>
          </a:p>
        </p:txBody>
      </p:sp>
      <p:sp>
        <p:nvSpPr>
          <p:cNvPr id="28" name="Abstract Card"/>
          <p:cNvSpPr/>
          <p:nvPr/>
        </p:nvSpPr>
        <p:spPr>
          <a:xfrm>
            <a:off x="330000" y="5180000"/>
            <a:ext cx="11520000" cy="1050000"/>
          </a:xfrm>
          <a:prstGeom prst="roundRect">
            <a:avLst/>
          </a:prstGeom>
          <a:solidFill>
            <a:srgbClr val="FFFDF8"/>
          </a:solidFill>
          <a:ln w="12700">
            <a:solidFill>
              <a:srgbClr val="DDD5C9"/>
            </a:solidFill>
          </a:ln>
        </p:spPr>
        <p:txBody>
          <a:bodyPr/>
          <a:lstStyle/>
          <a:p/>
        </p:txBody>
      </p:sp>
      <p:sp>
        <p:nvSpPr>
          <p:cNvPr id="29" name="Abstract"/>
          <p:cNvSpPr txBox="1"/>
          <p:nvPr/>
        </p:nvSpPr>
        <p:spPr>
          <a:xfrm>
            <a:off x="420000" y="5250000"/>
            <a:ext cx="11300000" cy="980000"/>
          </a:xfrm>
          <a:prstGeom prst="rect">
            <a:avLst/>
          </a:prstGeom>
          <a:noFill/>
          <a:ln>
            <a:noFill/>
          </a:ln>
        </p:spPr>
        <p:txBody>
          <a:bodyPr wrap="square" lIns="91440" tIns="45720" rIns="91440" bIns="45720" anchor="t"/>
          <a:lstStyle/>
          <a:p>
            <a:r>
              <a:rPr lang="en-US" sz="1480" b="1" dirty="0" smtClean="0">
                <a:solidFill>
                  <a:srgbClr val="173F43"/>
                </a:solidFill>
              </a:rPr>
              <a:t>Abstract</a:t>
            </a:r>
          </a:p>
          <a:p>
            <a:r>
              <a:rPr lang="en-US" sz="980" dirty="0" smtClean="0">
                <a:solidFill>
                  <a:srgbClr val="374151"/>
                </a:solidFill>
              </a:rPr>
              <a:t>AI-Powered Resume Analyzer is a web application for job seekers who want a clearer read on a resume before sending it to an employer. The user uploads a PDF resume, enters the target company, role, and job description, and receives a structured review across ATS readiness, writing tone, content strength, layout, skill match, and overall job fit. The app uses React Router, TypeScript, Zustand, PDF processing, and Puter services for authentication, file storage, key-value persistence, and AI-assisted feedback. The Resume Analyzer is designed as a practical review aid: it highlights what already works, points out weak or missing evidence, and helps users revise a resume for a specific opportunity rather than relying on one generic version.</a:t>
            </a:r>
          </a:p>
        </p:txBody>
      </p:sp>
    </p:spTree>
  </p:cSld>
  <p:clrMapOvr>
    <a:masterClrMapping/>
  </p:clrMapOvr>
</p:sld>
</file>

<file path=ppt/theme/theme1.xml><?xml version="1.0" encoding="utf-8"?>
<a:theme xmlns:a="http://schemas.openxmlformats.org/drawingml/2006/main" name="Custom Theme">
  <a:themeElements>
    <a:clrScheme name="Custom">
      <a:dk1>
        <a:srgbClr val="000000"/>
      </a:dk1>
      <a:lt1>
        <a:srgbClr val="FFFFFF"/>
      </a:lt1>
      <a:dk2>
        <a:srgbClr val="1F2937"/>
      </a:dk2>
      <a:lt2>
        <a:srgbClr val="F9FAFB"/>
      </a:lt2>
      <a:accent1>
        <a:srgbClr val="0F3D3E"/>
      </a:accent1>
      <a:accent2>
        <a:srgbClr val="D97706"/>
      </a:accent2>
      <a:accent3>
        <a:srgbClr val="2563EB"/>
      </a:accent3>
      <a:accent4>
        <a:srgbClr val="16A34A"/>
      </a:accent4>
      <a:accent5>
        <a:srgbClr val="DC2626"/>
      </a:accent5>
      <a:accent6>
        <a:srgbClr val="7C3AED"/>
      </a:accent6>
      <a:hlink>
        <a:srgbClr val="2563EB"/>
      </a:hlink>
      <a:folHlink>
        <a:srgbClr val="7C3AED"/>
      </a:folHlink>
    </a:clrScheme>
    <a:fontScheme name="Custom">
      <a:majorFont>
        <a:latin typeface="Aptos Display"/>
        <a:ea typeface=""/>
        <a:cs typeface=""/>
      </a:majorFont>
      <a:minorFont>
        <a:latin typeface="Aptos"/>
        <a:ea typeface=""/>
        <a:cs typeface=""/>
      </a:minorFont>
    </a:fontScheme>
    <a:fmtScheme name="Custom">
      <a:fillStyleLst>
        <a:solidFill>
          <a:schemeClr val="phClr"/>
        </a:solidFill>
        <a:gradFill rotWithShape="1">
          <a:gsLst>
            <a:gs pos="0">
              <a:schemeClr val="phClr"/>
            </a:gs>
            <a:gs pos="100000">
              <a:schemeClr val="phClr"/>
            </a:gs>
          </a:gsLst>
          <a:lin ang="5400000" scaled="0"/>
        </a:gradFill>
      </a:fillStyleLst>
      <a:lnStyleLst>
        <a:ln w="9525" cap="flat" cmpd="sng" algn="ctr">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Slides>
  <Notes>0</Notes>
  <HiddenSlides>0</HiddenSlides>
  <MMClips>0</MMClips>
  <ScaleCrop>false</ScaleCrop>
  <HeadingPairs>
    <vt:vector size="2" baseType="variant">
      <vt:variant>
        <vt:lpstr>Theme</vt:lpstr>
      </vt:variant>
      <vt:variant>
        <vt:i4>1</vt:i4>
      </vt:variant>
    </vt:vector>
  </HeadingPairs>
  <TitlesOfParts>
    <vt:vector size="1" baseType="lpstr">
      <vt:lpstr>Poster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Resume Analyzer: ATS and Job-Fit Feedback</dc:title>
  <dc:creator>Firoz Khan Patan</dc:creator>
  <cp:lastModifiedBy>Firoz Khan Patan</cp:lastModifiedBy>
  <dcterms:created xsi:type="dcterms:W3CDTF">2026-04-26T16:20:40Z</dcterms:created>
  <dcterms:modified xsi:type="dcterms:W3CDTF">2026-04-26T16:20:40Z</dcterms:modified>
</cp:coreProperties>
</file>