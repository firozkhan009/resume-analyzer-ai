
<file path=[Content_Types].xml><?xml version="1.0" encoding="utf-8"?>
<ns0:Types xmlns:ns0="http://schemas.openxmlformats.org/package/2006/content-types">
  <ns0:Default Extension="jpeg" ContentType="image/jpeg"/>
  <ns0:Default Extension="jpg" ContentType="image/jpeg"/>
  <ns0:Default Extension="rels" ContentType="application/vnd.openxmlformats-package.relationships+xml"/>
  <ns0:Default Extension="xml" ContentType="application/xml"/>
  <ns0:Override PartName="/ppt/presentation.xml" ContentType="application/vnd.openxmlformats-officedocument.presentationml.presentation.main+xml"/>
  <ns0:Override PartName="/ppt/slideMasters/slideMaster1.xml" ContentType="application/vnd.openxmlformats-officedocument.presentationml.slideMaster+xml"/>
  <ns0:Override PartName="/ppt/slides/slide1.xml" ContentType="application/vnd.openxmlformats-officedocument.presentationml.slide+xml"/>
  <ns0:Override PartName="/ppt/presProps.xml" ContentType="application/vnd.openxmlformats-officedocument.presentationml.presProps+xml"/>
  <ns0:Override PartName="/ppt/viewProps.xml" ContentType="application/vnd.openxmlformats-officedocument.presentationml.viewProps+xml"/>
  <ns0:Override PartName="/ppt/theme/theme1.xml" ContentType="application/vnd.openxmlformats-officedocument.theme+xml"/>
  <ns0:Override PartName="/ppt/tableStyles.xml" ContentType="application/vnd.openxmlformats-officedocument.presentationml.tableStyles+xml"/>
  <ns0:Override PartName="/ppt/slideLayouts/slideLayout1.xml" ContentType="application/vnd.openxmlformats-officedocument.presentationml.slideLayout+xml"/>
  <ns0:Override PartName="/docProps/core.xml" ContentType="application/vnd.openxmlformats-package.core-properties+xml"/>
  <ns0:Override PartName="/docProps/app.xml" ContentType="application/vnd.openxmlformats-officedocument.extended-properties+xml"/>
  <ns0:Default Extension="svg" ContentType="image/svg+xml"/>
</ns0: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Lst>
  <p:sldSz cx="42062400" cy="31089600"/>
  <p:notesSz cx="6858000" cy="9144000"/>
  <p:defaultTextStyle>
    <a:defPPr>
      <a:defRPr lang="en-US"/>
    </a:defPPr>
    <a:lvl1pPr marL="0" algn="l" defTabSz="3511296" rtl="0" eaLnBrk="1" latinLnBrk="0" hangingPunct="1">
      <a:defRPr sz="6912" kern="1200">
        <a:solidFill>
          <a:schemeClr val="tx1"/>
        </a:solidFill>
        <a:latin typeface="+mn-lt"/>
        <a:ea typeface="+mn-ea"/>
        <a:cs typeface="+mn-cs"/>
      </a:defRPr>
    </a:lvl1pPr>
    <a:lvl2pPr marL="1755648" algn="l" defTabSz="3511296" rtl="0" eaLnBrk="1" latinLnBrk="0" hangingPunct="1">
      <a:defRPr sz="6912" kern="1200">
        <a:solidFill>
          <a:schemeClr val="tx1"/>
        </a:solidFill>
        <a:latin typeface="+mn-lt"/>
        <a:ea typeface="+mn-ea"/>
        <a:cs typeface="+mn-cs"/>
      </a:defRPr>
    </a:lvl2pPr>
    <a:lvl3pPr marL="3511296" algn="l" defTabSz="3511296" rtl="0" eaLnBrk="1" latinLnBrk="0" hangingPunct="1">
      <a:defRPr sz="6912" kern="1200">
        <a:solidFill>
          <a:schemeClr val="tx1"/>
        </a:solidFill>
        <a:latin typeface="+mn-lt"/>
        <a:ea typeface="+mn-ea"/>
        <a:cs typeface="+mn-cs"/>
      </a:defRPr>
    </a:lvl3pPr>
    <a:lvl4pPr marL="5266944" algn="l" defTabSz="3511296" rtl="0" eaLnBrk="1" latinLnBrk="0" hangingPunct="1">
      <a:defRPr sz="6912" kern="1200">
        <a:solidFill>
          <a:schemeClr val="tx1"/>
        </a:solidFill>
        <a:latin typeface="+mn-lt"/>
        <a:ea typeface="+mn-ea"/>
        <a:cs typeface="+mn-cs"/>
      </a:defRPr>
    </a:lvl4pPr>
    <a:lvl5pPr marL="7022592" algn="l" defTabSz="3511296" rtl="0" eaLnBrk="1" latinLnBrk="0" hangingPunct="1">
      <a:defRPr sz="6912" kern="1200">
        <a:solidFill>
          <a:schemeClr val="tx1"/>
        </a:solidFill>
        <a:latin typeface="+mn-lt"/>
        <a:ea typeface="+mn-ea"/>
        <a:cs typeface="+mn-cs"/>
      </a:defRPr>
    </a:lvl5pPr>
    <a:lvl6pPr marL="8778240" algn="l" defTabSz="3511296" rtl="0" eaLnBrk="1" latinLnBrk="0" hangingPunct="1">
      <a:defRPr sz="6912" kern="1200">
        <a:solidFill>
          <a:schemeClr val="tx1"/>
        </a:solidFill>
        <a:latin typeface="+mn-lt"/>
        <a:ea typeface="+mn-ea"/>
        <a:cs typeface="+mn-cs"/>
      </a:defRPr>
    </a:lvl6pPr>
    <a:lvl7pPr marL="10533888" algn="l" defTabSz="3511296" rtl="0" eaLnBrk="1" latinLnBrk="0" hangingPunct="1">
      <a:defRPr sz="6912" kern="1200">
        <a:solidFill>
          <a:schemeClr val="tx1"/>
        </a:solidFill>
        <a:latin typeface="+mn-lt"/>
        <a:ea typeface="+mn-ea"/>
        <a:cs typeface="+mn-cs"/>
      </a:defRPr>
    </a:lvl7pPr>
    <a:lvl8pPr marL="12289536" algn="l" defTabSz="3511296" rtl="0" eaLnBrk="1" latinLnBrk="0" hangingPunct="1">
      <a:defRPr sz="6912" kern="1200">
        <a:solidFill>
          <a:schemeClr val="tx1"/>
        </a:solidFill>
        <a:latin typeface="+mn-lt"/>
        <a:ea typeface="+mn-ea"/>
        <a:cs typeface="+mn-cs"/>
      </a:defRPr>
    </a:lvl8pPr>
    <a:lvl9pPr marL="14045184" algn="l" defTabSz="3511296" rtl="0" eaLnBrk="1" latinLnBrk="0" hangingPunct="1">
      <a:defRPr sz="6912"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D163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93"/>
    <p:restoredTop sz="94672"/>
  </p:normalViewPr>
  <p:slideViewPr>
    <p:cSldViewPr snapToGrid="0" snapToObjects="1">
      <p:cViewPr>
        <p:scale>
          <a:sx n="33" d="100"/>
          <a:sy n="33" d="100"/>
        </p:scale>
        <p:origin x="744" y="-1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FA03B8A2-8672-2D4F-A572-5917446D5B4B}"/>
              </a:ext>
            </a:extLst>
          </p:cNvPr>
          <p:cNvSpPr txBox="1"/>
          <p:nvPr userDrawn="1"/>
        </p:nvSpPr>
        <p:spPr>
          <a:xfrm>
            <a:off x="13936717" y="2711669"/>
            <a:ext cx="184731" cy="115602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380004327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1.xml"/><Relationship Id="rId1" Type="http://schemas.openxmlformats.org/officeDocument/2006/relationships/slideLayout" Target="../slideLayouts/slideLayout1.xml"/><Relationship Id="rId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522CF5B0-1CEA-B147-B6EA-E600AF90DA97}"/>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1" y="0"/>
            <a:ext cx="42062398" cy="31089598"/>
          </a:xfrm>
          <a:prstGeom prst="rect">
            <a:avLst/>
          </a:prstGeom>
        </p:spPr>
      </p:pic>
    </p:spTree>
    <p:extLst>
      <p:ext uri="{BB962C8B-B14F-4D97-AF65-F5344CB8AC3E}">
        <p14:creationId xmlns:p14="http://schemas.microsoft.com/office/powerpoint/2010/main" val="1677272068"/>
      </p:ext>
    </p:extLst>
  </p:cSld>
  <p:clrMap bg1="lt1" tx1="dk1" bg2="lt2" tx2="dk2" accent1="accent1" accent2="accent2" accent3="accent3" accent4="accent4" accent5="accent5" accent6="accent6" hlink="hlink" folHlink="folHlink"/>
  <p:sldLayoutIdLst>
    <p:sldLayoutId id="2147483661" r:id="rId1"/>
  </p:sldLayoutIdLst>
  <p:txStyles>
    <p:titleStyle>
      <a:lvl1pPr algn="l" defTabSz="4145250" rtl="0" eaLnBrk="1" latinLnBrk="0" hangingPunct="1">
        <a:lnSpc>
          <a:spcPct val="90000"/>
        </a:lnSpc>
        <a:spcBef>
          <a:spcPct val="0"/>
        </a:spcBef>
        <a:buNone/>
        <a:defRPr sz="19947" kern="1200">
          <a:solidFill>
            <a:schemeClr val="tx1"/>
          </a:solidFill>
          <a:latin typeface="+mj-lt"/>
          <a:ea typeface="+mj-ea"/>
          <a:cs typeface="+mj-cs"/>
        </a:defRPr>
      </a:lvl1pPr>
    </p:titleStyle>
    <p:bodyStyle>
      <a:lvl1pPr marL="1036312" indent="-1036312" algn="l" defTabSz="4145250" rtl="0" eaLnBrk="1" latinLnBrk="0" hangingPunct="1">
        <a:lnSpc>
          <a:spcPct val="90000"/>
        </a:lnSpc>
        <a:spcBef>
          <a:spcPts val="4533"/>
        </a:spcBef>
        <a:buFont typeface="Arial" panose="020B0604020202020204" pitchFamily="34" charset="0"/>
        <a:buChar char="•"/>
        <a:defRPr sz="12693" kern="1200">
          <a:solidFill>
            <a:schemeClr val="tx1"/>
          </a:solidFill>
          <a:latin typeface="+mn-lt"/>
          <a:ea typeface="+mn-ea"/>
          <a:cs typeface="+mn-cs"/>
        </a:defRPr>
      </a:lvl1pPr>
      <a:lvl2pPr marL="3108937" indent="-1036312" algn="l" defTabSz="4145250" rtl="0" eaLnBrk="1" latinLnBrk="0" hangingPunct="1">
        <a:lnSpc>
          <a:spcPct val="90000"/>
        </a:lnSpc>
        <a:spcBef>
          <a:spcPts val="2267"/>
        </a:spcBef>
        <a:buFont typeface="Arial" panose="020B0604020202020204" pitchFamily="34" charset="0"/>
        <a:buChar char="•"/>
        <a:defRPr sz="10880" kern="1200">
          <a:solidFill>
            <a:schemeClr val="tx1"/>
          </a:solidFill>
          <a:latin typeface="+mn-lt"/>
          <a:ea typeface="+mn-ea"/>
          <a:cs typeface="+mn-cs"/>
        </a:defRPr>
      </a:lvl2pPr>
      <a:lvl3pPr marL="5181562" indent="-1036312" algn="l" defTabSz="4145250" rtl="0" eaLnBrk="1" latinLnBrk="0" hangingPunct="1">
        <a:lnSpc>
          <a:spcPct val="90000"/>
        </a:lnSpc>
        <a:spcBef>
          <a:spcPts val="2267"/>
        </a:spcBef>
        <a:buFont typeface="Arial" panose="020B0604020202020204" pitchFamily="34" charset="0"/>
        <a:buChar char="•"/>
        <a:defRPr sz="9067" kern="1200">
          <a:solidFill>
            <a:schemeClr val="tx1"/>
          </a:solidFill>
          <a:latin typeface="+mn-lt"/>
          <a:ea typeface="+mn-ea"/>
          <a:cs typeface="+mn-cs"/>
        </a:defRPr>
      </a:lvl3pPr>
      <a:lvl4pPr marL="7254187" indent="-1036312" algn="l" defTabSz="4145250" rtl="0" eaLnBrk="1" latinLnBrk="0" hangingPunct="1">
        <a:lnSpc>
          <a:spcPct val="90000"/>
        </a:lnSpc>
        <a:spcBef>
          <a:spcPts val="2267"/>
        </a:spcBef>
        <a:buFont typeface="Arial" panose="020B0604020202020204" pitchFamily="34" charset="0"/>
        <a:buChar char="•"/>
        <a:defRPr sz="8160" kern="1200">
          <a:solidFill>
            <a:schemeClr val="tx1"/>
          </a:solidFill>
          <a:latin typeface="+mn-lt"/>
          <a:ea typeface="+mn-ea"/>
          <a:cs typeface="+mn-cs"/>
        </a:defRPr>
      </a:lvl4pPr>
      <a:lvl5pPr marL="9326811" indent="-1036312" algn="l" defTabSz="4145250" rtl="0" eaLnBrk="1" latinLnBrk="0" hangingPunct="1">
        <a:lnSpc>
          <a:spcPct val="90000"/>
        </a:lnSpc>
        <a:spcBef>
          <a:spcPts val="2267"/>
        </a:spcBef>
        <a:buFont typeface="Arial" panose="020B0604020202020204" pitchFamily="34" charset="0"/>
        <a:buChar char="•"/>
        <a:defRPr sz="8160" kern="1200">
          <a:solidFill>
            <a:schemeClr val="tx1"/>
          </a:solidFill>
          <a:latin typeface="+mn-lt"/>
          <a:ea typeface="+mn-ea"/>
          <a:cs typeface="+mn-cs"/>
        </a:defRPr>
      </a:lvl5pPr>
      <a:lvl6pPr marL="11399436" indent="-1036312" algn="l" defTabSz="4145250" rtl="0" eaLnBrk="1" latinLnBrk="0" hangingPunct="1">
        <a:lnSpc>
          <a:spcPct val="90000"/>
        </a:lnSpc>
        <a:spcBef>
          <a:spcPts val="2267"/>
        </a:spcBef>
        <a:buFont typeface="Arial" panose="020B0604020202020204" pitchFamily="34" charset="0"/>
        <a:buChar char="•"/>
        <a:defRPr sz="8160" kern="1200">
          <a:solidFill>
            <a:schemeClr val="tx1"/>
          </a:solidFill>
          <a:latin typeface="+mn-lt"/>
          <a:ea typeface="+mn-ea"/>
          <a:cs typeface="+mn-cs"/>
        </a:defRPr>
      </a:lvl6pPr>
      <a:lvl7pPr marL="13472061" indent="-1036312" algn="l" defTabSz="4145250" rtl="0" eaLnBrk="1" latinLnBrk="0" hangingPunct="1">
        <a:lnSpc>
          <a:spcPct val="90000"/>
        </a:lnSpc>
        <a:spcBef>
          <a:spcPts val="2267"/>
        </a:spcBef>
        <a:buFont typeface="Arial" panose="020B0604020202020204" pitchFamily="34" charset="0"/>
        <a:buChar char="•"/>
        <a:defRPr sz="8160" kern="1200">
          <a:solidFill>
            <a:schemeClr val="tx1"/>
          </a:solidFill>
          <a:latin typeface="+mn-lt"/>
          <a:ea typeface="+mn-ea"/>
          <a:cs typeface="+mn-cs"/>
        </a:defRPr>
      </a:lvl7pPr>
      <a:lvl8pPr marL="15544686" indent="-1036312" algn="l" defTabSz="4145250" rtl="0" eaLnBrk="1" latinLnBrk="0" hangingPunct="1">
        <a:lnSpc>
          <a:spcPct val="90000"/>
        </a:lnSpc>
        <a:spcBef>
          <a:spcPts val="2267"/>
        </a:spcBef>
        <a:buFont typeface="Arial" panose="020B0604020202020204" pitchFamily="34" charset="0"/>
        <a:buChar char="•"/>
        <a:defRPr sz="8160" kern="1200">
          <a:solidFill>
            <a:schemeClr val="tx1"/>
          </a:solidFill>
          <a:latin typeface="+mn-lt"/>
          <a:ea typeface="+mn-ea"/>
          <a:cs typeface="+mn-cs"/>
        </a:defRPr>
      </a:lvl8pPr>
      <a:lvl9pPr marL="17617310" indent="-1036312" algn="l" defTabSz="4145250" rtl="0" eaLnBrk="1" latinLnBrk="0" hangingPunct="1">
        <a:lnSpc>
          <a:spcPct val="90000"/>
        </a:lnSpc>
        <a:spcBef>
          <a:spcPts val="2267"/>
        </a:spcBef>
        <a:buFont typeface="Arial" panose="020B0604020202020204" pitchFamily="34" charset="0"/>
        <a:buChar char="•"/>
        <a:defRPr sz="8160" kern="1200">
          <a:solidFill>
            <a:schemeClr val="tx1"/>
          </a:solidFill>
          <a:latin typeface="+mn-lt"/>
          <a:ea typeface="+mn-ea"/>
          <a:cs typeface="+mn-cs"/>
        </a:defRPr>
      </a:lvl9pPr>
    </p:bodyStyle>
    <p:otherStyle>
      <a:defPPr>
        <a:defRPr lang="en-US"/>
      </a:defPPr>
      <a:lvl1pPr marL="0" algn="l" defTabSz="4145250" rtl="0" eaLnBrk="1" latinLnBrk="0" hangingPunct="1">
        <a:defRPr sz="8160" kern="1200">
          <a:solidFill>
            <a:schemeClr val="tx1"/>
          </a:solidFill>
          <a:latin typeface="+mn-lt"/>
          <a:ea typeface="+mn-ea"/>
          <a:cs typeface="+mn-cs"/>
        </a:defRPr>
      </a:lvl1pPr>
      <a:lvl2pPr marL="2072625" algn="l" defTabSz="4145250" rtl="0" eaLnBrk="1" latinLnBrk="0" hangingPunct="1">
        <a:defRPr sz="8160" kern="1200">
          <a:solidFill>
            <a:schemeClr val="tx1"/>
          </a:solidFill>
          <a:latin typeface="+mn-lt"/>
          <a:ea typeface="+mn-ea"/>
          <a:cs typeface="+mn-cs"/>
        </a:defRPr>
      </a:lvl2pPr>
      <a:lvl3pPr marL="4145250" algn="l" defTabSz="4145250" rtl="0" eaLnBrk="1" latinLnBrk="0" hangingPunct="1">
        <a:defRPr sz="8160" kern="1200">
          <a:solidFill>
            <a:schemeClr val="tx1"/>
          </a:solidFill>
          <a:latin typeface="+mn-lt"/>
          <a:ea typeface="+mn-ea"/>
          <a:cs typeface="+mn-cs"/>
        </a:defRPr>
      </a:lvl3pPr>
      <a:lvl4pPr marL="6217874" algn="l" defTabSz="4145250" rtl="0" eaLnBrk="1" latinLnBrk="0" hangingPunct="1">
        <a:defRPr sz="8160" kern="1200">
          <a:solidFill>
            <a:schemeClr val="tx1"/>
          </a:solidFill>
          <a:latin typeface="+mn-lt"/>
          <a:ea typeface="+mn-ea"/>
          <a:cs typeface="+mn-cs"/>
        </a:defRPr>
      </a:lvl4pPr>
      <a:lvl5pPr marL="8290499" algn="l" defTabSz="4145250" rtl="0" eaLnBrk="1" latinLnBrk="0" hangingPunct="1">
        <a:defRPr sz="8160" kern="1200">
          <a:solidFill>
            <a:schemeClr val="tx1"/>
          </a:solidFill>
          <a:latin typeface="+mn-lt"/>
          <a:ea typeface="+mn-ea"/>
          <a:cs typeface="+mn-cs"/>
        </a:defRPr>
      </a:lvl5pPr>
      <a:lvl6pPr marL="10363124" algn="l" defTabSz="4145250" rtl="0" eaLnBrk="1" latinLnBrk="0" hangingPunct="1">
        <a:defRPr sz="8160" kern="1200">
          <a:solidFill>
            <a:schemeClr val="tx1"/>
          </a:solidFill>
          <a:latin typeface="+mn-lt"/>
          <a:ea typeface="+mn-ea"/>
          <a:cs typeface="+mn-cs"/>
        </a:defRPr>
      </a:lvl6pPr>
      <a:lvl7pPr marL="12435749" algn="l" defTabSz="4145250" rtl="0" eaLnBrk="1" latinLnBrk="0" hangingPunct="1">
        <a:defRPr sz="8160" kern="1200">
          <a:solidFill>
            <a:schemeClr val="tx1"/>
          </a:solidFill>
          <a:latin typeface="+mn-lt"/>
          <a:ea typeface="+mn-ea"/>
          <a:cs typeface="+mn-cs"/>
        </a:defRPr>
      </a:lvl7pPr>
      <a:lvl8pPr marL="14508373" algn="l" defTabSz="4145250" rtl="0" eaLnBrk="1" latinLnBrk="0" hangingPunct="1">
        <a:defRPr sz="8160" kern="1200">
          <a:solidFill>
            <a:schemeClr val="tx1"/>
          </a:solidFill>
          <a:latin typeface="+mn-lt"/>
          <a:ea typeface="+mn-ea"/>
          <a:cs typeface="+mn-cs"/>
        </a:defRPr>
      </a:lvl8pPr>
      <a:lvl9pPr marL="16580998" algn="l" defTabSz="4145250" rtl="0" eaLnBrk="1" latinLnBrk="0" hangingPunct="1">
        <a:defRPr sz="8160" kern="1200">
          <a:solidFill>
            <a:schemeClr val="tx1"/>
          </a:solidFill>
          <a:latin typeface="+mn-lt"/>
          <a:ea typeface="+mn-ea"/>
          <a:cs typeface="+mn-cs"/>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image" Target="../media/workflow-large.svg" /><Relationship Id="rId3" Type="http://schemas.openxmlformats.org/officeDocument/2006/relationships/image" Target="../media/components-small.svg" /></Relationships>
</file>

<file path=ppt/slides/slide1.xml><?xml version="1.0" encoding="utf-8"?>
<p:sld xmlns:a="http://schemas.openxmlformats.org/drawingml/2006/main" xmlns:ns2="http://schemas.microsoft.com/office/drawing/2014/main" xmlns:ns3="http://schemas.microsoft.com/office/powerpoint/2010/main" xmlns:p="http://schemas.openxmlformats.org/presentationml/2006/main" xmlns:r="http://schemas.openxmlformats.org/officeDocument/2006/relationships" showMasterSp="0">
  <p:cSld>
    <p:spTree>
      <p:nvGrpSpPr>
        <p:cNvPr id="1" name=""/>
        <p:cNvGrpSpPr/>
        <p:nvPr/>
      </p:nvGrpSpPr>
      <p:grpSpPr>
        <a:xfrm>
          <a:off x="0" y="0"/>
          <a:ext cx="0" cy="0"/>
          <a:chOff x="0" y="0"/>
          <a:chExt cx="0" cy="0"/>
        </a:xfrm>
      </p:grpSpPr>
      <p:sp>
        <p:nvSpPr>
          <p:cNvPr id="4" name="TextBox 3">
            <a:extLst>
              <a:ext uri="{FF2B5EF4-FFF2-40B4-BE49-F238E27FC236}">
                <ns2:creationId id="{53A07765-EB2F-7F4D-B3ED-9AB1E5773BC2}"/>
              </a:ext>
            </a:extLst>
          </p:cNvPr>
          <p:cNvSpPr txBox="1"/>
          <p:nvPr/>
        </p:nvSpPr>
        <p:spPr>
          <a:xfrm>
            <a:off x="8832642" y="1032722"/>
            <a:ext cx="31936987" cy="1200329"/>
          </a:xfrm>
          <a:prstGeom prst="rect">
            <a:avLst/>
          </a:prstGeom>
          <a:noFill/>
        </p:spPr>
        <p:txBody>
          <a:bodyPr wrap="square" rtlCol="0">
            <a:spAutoFit/>
          </a:bodyPr>
          <a:lstStyle/>
          <a:p>
            <a:r>
              <a:rPr lang="en-US" sz="7200" dirty="0">
                <a:solidFill>
                  <a:schemeClr val="tx1">
                    <a:lumMod val="85000"/>
                    <a:lumOff val="15000"/>
                  </a:schemeClr>
                </a:solidFill>
                <a:latin typeface="Oswald " panose="02000506000000020004" pitchFamily="2" charset="0"/>
              </a:rPr>
              <a:t>AI-Powered Resume Analyzer for ATS Optimization</a:t>
            </a:r>
          </a:p>
        </p:txBody>
      </p:sp>
      <p:sp>
        <p:nvSpPr>
          <p:cNvPr id="5" name="TextBox 4">
            <a:extLst>
              <a:ext uri="{FF2B5EF4-FFF2-40B4-BE49-F238E27FC236}">
                <ns2:creationId id="{C62F2A02-8041-3948-9032-9852D8F4CD24}"/>
              </a:ext>
            </a:extLst>
          </p:cNvPr>
          <p:cNvSpPr txBox="1"/>
          <p:nvPr/>
        </p:nvSpPr>
        <p:spPr>
          <a:xfrm>
            <a:off x="8832642" y="2760160"/>
            <a:ext cx="30175200" cy="769441"/>
          </a:xfrm>
          <a:prstGeom prst="rect">
            <a:avLst/>
          </a:prstGeom>
          <a:noFill/>
        </p:spPr>
        <p:txBody>
          <a:bodyPr wrap="square" rtlCol="0">
            <a:spAutoFit/>
          </a:bodyPr>
          <a:lstStyle/>
          <a:p>
            <a:r>
              <a:rPr lang="en-US" sz="4400" b="1" dirty="0">
                <a:solidFill>
                  <a:schemeClr val="tx1">
                    <a:lumMod val="85000"/>
                    <a:lumOff val="15000"/>
                  </a:schemeClr>
                </a:solidFill>
                <a:latin typeface="Georgia" panose="02040502050405020303" pitchFamily="18" charset="0"/>
              </a:rPr>
              <a:t>Firoz Khan Patan, Dr. Krzysztof J. </a:t>
            </a:r>
            <a:r>
              <a:rPr lang="en-US" sz="4400" b="1" dirty="0" err="1">
                <a:solidFill>
                  <a:schemeClr val="tx1">
                    <a:lumMod val="85000"/>
                    <a:lumOff val="15000"/>
                  </a:schemeClr>
                </a:solidFill>
                <a:latin typeface="Georgia" panose="02040502050405020303" pitchFamily="18" charset="0"/>
              </a:rPr>
              <a:t>Kochut</a:t>
            </a:r>
            <a:endParaRPr lang="en-US" sz="4400" b="1" dirty="0">
              <a:solidFill>
                <a:schemeClr val="tx1">
                  <a:lumMod val="85000"/>
                  <a:lumOff val="15000"/>
                </a:schemeClr>
              </a:solidFill>
              <a:latin typeface="Georgia" panose="02040502050405020303" pitchFamily="18" charset="0"/>
            </a:endParaRPr>
          </a:p>
        </p:txBody>
      </p:sp>
      <p:sp>
        <p:nvSpPr>
          <p:cNvPr id="6" name="TextBox 5">
            <a:extLst>
              <a:ext uri="{FF2B5EF4-FFF2-40B4-BE49-F238E27FC236}">
                <ns2:creationId id="{73632D5D-D4EB-5343-AD9E-1E9E40FC0856}"/>
              </a:ext>
            </a:extLst>
          </p:cNvPr>
          <p:cNvSpPr txBox="1"/>
          <p:nvPr/>
        </p:nvSpPr>
        <p:spPr>
          <a:xfrm>
            <a:off x="515012" y="7063762"/>
            <a:ext cx="12472124" cy="1200329"/>
          </a:xfrm>
          <a:prstGeom prst="rect">
            <a:avLst/>
          </a:prstGeom>
          <a:solidFill>
            <a:srgbClr val="CD163E"/>
          </a:solidFill>
          <a:ln w="63500">
            <a:solidFill>
              <a:srgbClr val="CD163E"/>
            </a:solidFill>
            <a:miter lim="800000"/>
          </a:ln>
        </p:spPr>
        <p:txBody>
          <a:bodyPr wrap="square" lIns="274320" tIns="182880" bIns="182880" rtlCol="0">
            <a:spAutoFit/>
          </a:bodyPr>
          <a:lstStyle/>
          <a:p>
            <a:r>
              <a:rPr lang="en-US" sz="5400" dirty="0">
                <a:solidFill>
                  <a:schemeClr val="bg1"/>
                </a:solidFill>
                <a:latin typeface="Oswald" pitchFamily="2" charset="77"/>
              </a:rPr>
              <a:t>PROJECT OVERVIEW</a:t>
            </a:r>
          </a:p>
        </p:txBody>
      </p:sp>
      <p:sp>
        <p:nvSpPr>
          <p:cNvPr id="12" name="TextBox 11">
            <a:extLst>
              <a:ext uri="{FF2B5EF4-FFF2-40B4-BE49-F238E27FC236}">
                <ns2:creationId id="{74EE7E1A-CF7A-464E-B6C6-9E503D24BC94}"/>
              </a:ext>
            </a:extLst>
          </p:cNvPr>
          <p:cNvSpPr txBox="1"/>
          <p:nvPr/>
        </p:nvSpPr>
        <p:spPr>
          <a:xfrm>
            <a:off x="552725" y="8557602"/>
            <a:ext cx="12433790" cy="9879628"/>
          </a:xfrm>
          <a:prstGeom prst="rect">
            <a:avLst/>
          </a:prstGeom>
          <a:noFill/>
          <a:ln w="63500">
            <a:solidFill>
              <a:srgbClr val="CD163E"/>
            </a:solidFill>
            <a:miter lim="800000"/>
          </a:ln>
        </p:spPr>
        <p:txBody>
          <a:bodyPr wrap="square" lIns="274320" tIns="182880" rIns="274320" bIns="274320" rtlCol="0">
            <a:spAutoFit/>
          </a:bodyPr>
          <a:lstStyle/>
          <a:p>
            <a:r>
              <a:rPr lang="en-US" sz="3600" b="1" dirty="0">
                <a:latin typeface="Georgia" pitchFamily="34" charset="0"/>
              </a:rPr>
              <a:t>Overview</a:t>
            </a:r>
            <a:r>
              <a:rPr lang="en-US" sz="3600" dirty="0">
                <a:latin typeface="Georgia" pitchFamily="34" charset="0"/>
              </a:rPr>
              <a:t>: This project develops an AI-powered web application that analyzes resumes against a target job and returns structured feedback for improvement.</a:t>
            </a:r>
          </a:p>
          <a:p>
            <a:endParaRPr lang="en-US" sz="3600" dirty="0">
              <a:latin typeface="Georgia" pitchFamily="34" charset="0"/>
            </a:endParaRPr>
          </a:p>
          <a:p>
            <a:r>
              <a:rPr lang="en-US" sz="3600" b="1" dirty="0">
                <a:latin typeface="Georgia" pitchFamily="34" charset="0"/>
              </a:rPr>
              <a:t> Motivation</a:t>
            </a:r>
            <a:r>
              <a:rPr lang="en-US" sz="3600" dirty="0">
                <a:latin typeface="Georgia" pitchFamily="34" charset="0"/>
              </a:rPr>
              <a:t>: Resume review is often manual, inconsistent, and difficult to tailor for each job application. Many applicants do not know how well their resume matches ATS screening criteria or recruiter expectations before applying. </a:t>
            </a:r>
          </a:p>
          <a:p>
            <a:endParaRPr lang="en-US" sz="3600" dirty="0">
              <a:latin typeface="Georgia" pitchFamily="34" charset="0"/>
            </a:endParaRPr>
          </a:p>
          <a:p>
            <a:r>
              <a:rPr lang="en-US" sz="3600" b="1" dirty="0">
                <a:latin typeface="Georgia" pitchFamily="34" charset="0"/>
              </a:rPr>
              <a:t>Contribution</a:t>
            </a:r>
            <a:r>
              <a:rPr lang="en-US" sz="3600" dirty="0">
                <a:latin typeface="Georgia" pitchFamily="34" charset="0"/>
              </a:rPr>
              <a:t>: The system combines resume upload, PDF processing, AI-based evaluation, data storage, and an interactive dashboard to make resume optimization faster, more personalized, and easier to repeat across multiple applications.</a:t>
            </a:r>
          </a:p>
          <a:p>
            <a:endParaRPr lang="en-US" sz="3600" b="1" dirty="0">
              <a:solidFill>
                <a:srgbClr val="C00000"/>
              </a:solidFill>
              <a:latin typeface="Georgia" pitchFamily="34" charset="0"/>
            </a:endParaRPr>
          </a:p>
          <a:p>
            <a:endParaRPr lang="en-US" sz="3600" b="1" dirty="0">
              <a:solidFill>
                <a:srgbClr val="C00000"/>
              </a:solidFill>
              <a:latin typeface="Georgia" pitchFamily="34" charset="0"/>
            </a:endParaRPr>
          </a:p>
        </p:txBody>
      </p:sp>
      <p:sp>
        <p:nvSpPr>
          <p:cNvPr id="14" name="TextBox 13">
            <a:extLst>
              <a:ext uri="{FF2B5EF4-FFF2-40B4-BE49-F238E27FC236}">
                <ns2:creationId id="{F6C7EB21-E9EA-9843-B116-CA8F7A44E1CF}"/>
              </a:ext>
            </a:extLst>
          </p:cNvPr>
          <p:cNvSpPr txBox="1"/>
          <p:nvPr/>
        </p:nvSpPr>
        <p:spPr>
          <a:xfrm>
            <a:off x="13253712" y="7094028"/>
            <a:ext cx="15507075" cy="18143428"/>
          </a:xfrm>
          <a:prstGeom prst="rect">
            <a:avLst/>
          </a:prstGeom>
          <a:noFill/>
          <a:ln w="63500">
            <a:solidFill>
              <a:srgbClr val="CD163E"/>
            </a:solidFill>
            <a:miter lim="800000"/>
          </a:ln>
        </p:spPr>
        <p:txBody>
          <a:bodyPr wrap="square" lIns="274320" tIns="182880" rIns="274320" bIns="274320" rtlCol="0">
            <a:spAutoFit/>
          </a:bodyPr>
          <a:lstStyle/>
          <a:p>
            <a:endParaRPr lang="en-US" sz="2600" dirty="0"/>
          </a:p>
          <a:p>
            <a:endParaRPr lang="en-US" sz="2600" dirty="0"/>
          </a:p>
          <a:p>
            <a:endParaRPr lang="en-US" sz="2600" dirty="0"/>
          </a:p>
          <a:p>
            <a:endParaRPr lang="en-US" sz="2600" dirty="0"/>
          </a:p>
          <a:p>
            <a:endParaRPr lang="en-US" sz="2600" dirty="0"/>
          </a:p>
          <a:p>
            <a:endParaRPr lang="en-US" sz="2600" dirty="0"/>
          </a:p>
          <a:p>
            <a:endParaRPr lang="en-US" sz="2600" dirty="0"/>
          </a:p>
          <a:p>
            <a:endParaRPr lang="en-US" sz="2600" dirty="0"/>
          </a:p>
          <a:p>
            <a:endParaRPr lang="en-US" sz="2600" dirty="0"/>
          </a:p>
          <a:p>
            <a:endParaRPr lang="en-US" sz="2600" dirty="0"/>
          </a:p>
          <a:p>
            <a:endParaRPr lang="en-US" sz="2600" dirty="0"/>
          </a:p>
          <a:p>
            <a:endParaRPr lang="en-US" sz="2600" dirty="0"/>
          </a:p>
          <a:p>
            <a:endParaRPr lang="en-US" sz="2600" dirty="0"/>
          </a:p>
          <a:p>
            <a:endParaRPr lang="en-US" sz="2600" dirty="0"/>
          </a:p>
          <a:p>
            <a:endParaRPr lang="en-US" sz="2600" dirty="0"/>
          </a:p>
          <a:p>
            <a:endParaRPr lang="en-US" sz="2600" dirty="0"/>
          </a:p>
          <a:p>
            <a:endParaRPr lang="en-US" sz="2600" dirty="0"/>
          </a:p>
          <a:p>
            <a:endParaRPr lang="en-US" sz="2600" dirty="0"/>
          </a:p>
          <a:p>
            <a:endParaRPr lang="en-US" sz="2600" dirty="0"/>
          </a:p>
          <a:p>
            <a:endParaRPr lang="en-US" sz="2600" dirty="0"/>
          </a:p>
          <a:p>
            <a:endParaRPr lang="en-US" sz="2600" dirty="0"/>
          </a:p>
          <a:p>
            <a:endParaRPr lang="en-US" sz="2600" dirty="0"/>
          </a:p>
          <a:p>
            <a:endParaRPr lang="en-US" sz="2600" dirty="0"/>
          </a:p>
          <a:p>
            <a:endParaRPr lang="en-US" sz="2600" dirty="0"/>
          </a:p>
          <a:p>
            <a:endParaRPr lang="en-US" sz="2600" dirty="0"/>
          </a:p>
          <a:p>
            <a:endParaRPr lang="en-US" sz="2600" dirty="0"/>
          </a:p>
          <a:p>
            <a:endParaRPr lang="en-US" sz="2600" dirty="0"/>
          </a:p>
          <a:p>
            <a:endParaRPr lang="en-US" sz="2600" dirty="0"/>
          </a:p>
          <a:p>
            <a:endParaRPr lang="en-US" sz="2600" dirty="0"/>
          </a:p>
          <a:p>
            <a:endParaRPr lang="en-US" sz="2600" dirty="0"/>
          </a:p>
          <a:p>
            <a:endParaRPr lang="en-US" sz="2600" dirty="0"/>
          </a:p>
          <a:p>
            <a:endParaRPr lang="en-US" sz="2600" dirty="0"/>
          </a:p>
          <a:p>
            <a:endParaRPr lang="en-US" sz="2600" dirty="0"/>
          </a:p>
          <a:p>
            <a:endParaRPr lang="en-US" sz="2600" dirty="0"/>
          </a:p>
          <a:p>
            <a:endParaRPr lang="en-US" sz="2600" dirty="0"/>
          </a:p>
          <a:p>
            <a:endParaRPr lang="en-US" sz="2600" dirty="0"/>
          </a:p>
          <a:p>
            <a:endParaRPr lang="en-US" sz="2600" dirty="0"/>
          </a:p>
          <a:p>
            <a:endParaRPr lang="en-US" sz="2600" dirty="0"/>
          </a:p>
          <a:p>
            <a:endParaRPr lang="en-US" sz="2600" dirty="0"/>
          </a:p>
          <a:p>
            <a:endParaRPr lang="en-US" sz="2600" dirty="0"/>
          </a:p>
          <a:p>
            <a:endParaRPr lang="en-US" sz="2600" dirty="0"/>
          </a:p>
          <a:p>
            <a:endParaRPr lang="en-US" sz="2600" dirty="0"/>
          </a:p>
          <a:p>
            <a:endParaRPr lang="en-US" sz="500" dirty="0"/>
          </a:p>
          <a:p>
            <a:endParaRPr lang="en-US" sz="2600" dirty="0"/>
          </a:p>
          <a:p>
            <a:endParaRPr lang="en-US" sz="2600" dirty="0"/>
          </a:p>
        </p:txBody>
      </p:sp>
      <p:sp>
        <p:nvSpPr>
          <p:cNvPr id="15" name="TextBox 14">
            <a:extLst>
              <a:ext uri="{FF2B5EF4-FFF2-40B4-BE49-F238E27FC236}">
                <ns2:creationId id="{86F6CC6A-D30E-0144-8BE5-6495ED688CCA}"/>
              </a:ext>
            </a:extLst>
          </p:cNvPr>
          <p:cNvSpPr txBox="1"/>
          <p:nvPr/>
        </p:nvSpPr>
        <p:spPr>
          <a:xfrm>
            <a:off x="29116253" y="23333386"/>
            <a:ext cx="12378913" cy="1200329"/>
          </a:xfrm>
          <a:prstGeom prst="rect">
            <a:avLst/>
          </a:prstGeom>
          <a:solidFill>
            <a:srgbClr val="CD163E"/>
          </a:solidFill>
          <a:ln w="63500">
            <a:solidFill>
              <a:srgbClr val="CD163E"/>
            </a:solidFill>
            <a:miter lim="800000"/>
          </a:ln>
        </p:spPr>
        <p:txBody>
          <a:bodyPr wrap="square" lIns="274320" tIns="182880" bIns="182880" rtlCol="0">
            <a:spAutoFit/>
          </a:bodyPr>
          <a:lstStyle/>
          <a:p>
            <a:r>
              <a:rPr lang="en-US" sz="5400" dirty="0">
                <a:solidFill>
                  <a:schemeClr val="bg1"/>
                </a:solidFill>
                <a:latin typeface="Oswald " panose="02000506000000020004" pitchFamily="2" charset="0"/>
              </a:rPr>
              <a:t>KEY TAKEAWAYS</a:t>
            </a:r>
            <a:endParaRPr lang="en-US" sz="5400" dirty="0"/>
          </a:p>
        </p:txBody>
      </p:sp>
      <p:sp>
        <p:nvSpPr>
          <p:cNvPr id="16" name="TextBox 15">
            <a:extLst>
              <a:ext uri="{FF2B5EF4-FFF2-40B4-BE49-F238E27FC236}">
                <ns2:creationId id="{2E40D0AF-5745-794C-992C-88F00AA24451}"/>
              </a:ext>
            </a:extLst>
          </p:cNvPr>
          <p:cNvSpPr txBox="1"/>
          <p:nvPr/>
        </p:nvSpPr>
        <p:spPr>
          <a:xfrm>
            <a:off x="28984696" y="7167648"/>
            <a:ext cx="12440875" cy="8463855"/>
          </a:xfrm>
          <a:prstGeom prst="rect">
            <a:avLst/>
          </a:prstGeom>
          <a:noFill/>
          <a:ln w="63500">
            <a:solidFill>
              <a:srgbClr val="CD163E"/>
            </a:solidFill>
            <a:miter lim="800000"/>
          </a:ln>
        </p:spPr>
        <p:txBody>
          <a:bodyPr wrap="square" lIns="274320" tIns="182880" rIns="274320" bIns="274320" rtlCol="0">
            <a:spAutoFit/>
          </a:bodyPr>
          <a:lstStyle/>
          <a:p>
            <a:endParaRPr lang="en-US" sz="2600" dirty="0"/>
          </a:p>
          <a:p>
            <a:endParaRPr lang="en-US" sz="2600" dirty="0"/>
          </a:p>
          <a:p>
            <a:endParaRPr lang="en-US" sz="2600" dirty="0"/>
          </a:p>
          <a:p>
            <a:endParaRPr lang="en-US" sz="2600" dirty="0"/>
          </a:p>
          <a:p>
            <a:endParaRPr lang="en-US" sz="2600" dirty="0"/>
          </a:p>
          <a:p>
            <a:endParaRPr lang="en-US" sz="2600" dirty="0"/>
          </a:p>
          <a:p>
            <a:endParaRPr lang="en-US" sz="2600" dirty="0"/>
          </a:p>
          <a:p>
            <a:endParaRPr lang="en-US" sz="2600" dirty="0"/>
          </a:p>
          <a:p>
            <a:endParaRPr lang="en-US" sz="2600" dirty="0"/>
          </a:p>
          <a:p>
            <a:endParaRPr lang="en-US" sz="2600" dirty="0"/>
          </a:p>
          <a:p>
            <a:endParaRPr lang="en-US" sz="2600" dirty="0"/>
          </a:p>
          <a:p>
            <a:endParaRPr lang="en-US" sz="2600" dirty="0"/>
          </a:p>
          <a:p>
            <a:endParaRPr lang="en-US" sz="2600" dirty="0"/>
          </a:p>
          <a:p>
            <a:endParaRPr lang="en-US" sz="2600" dirty="0"/>
          </a:p>
          <a:p>
            <a:endParaRPr lang="en-US" sz="2600" dirty="0"/>
          </a:p>
          <a:p>
            <a:endParaRPr lang="en-US" sz="2600" dirty="0"/>
          </a:p>
          <a:p>
            <a:endParaRPr lang="en-US" sz="2600" dirty="0"/>
          </a:p>
          <a:p>
            <a:endParaRPr lang="en-US" sz="2600" dirty="0"/>
          </a:p>
          <a:p>
            <a:endParaRPr lang="en-US" sz="2600" dirty="0"/>
          </a:p>
          <a:p>
            <a:endParaRPr lang="en-US" sz="2600" dirty="0"/>
          </a:p>
        </p:txBody>
      </p:sp>
      <p:sp>
        <p:nvSpPr>
          <p:cNvPr id="19" name="TextBox 18">
            <a:extLst>
              <a:ext uri="{FF2B5EF4-FFF2-40B4-BE49-F238E27FC236}">
                <ns2:creationId id="{F6C923E4-5360-A145-990D-0052B047905C}"/>
              </a:ext>
            </a:extLst>
          </p:cNvPr>
          <p:cNvSpPr txBox="1"/>
          <p:nvPr/>
        </p:nvSpPr>
        <p:spPr>
          <a:xfrm>
            <a:off x="515012" y="18961195"/>
            <a:ext cx="12471503" cy="1200329"/>
          </a:xfrm>
          <a:prstGeom prst="rect">
            <a:avLst/>
          </a:prstGeom>
          <a:solidFill>
            <a:srgbClr val="CD163E"/>
          </a:solidFill>
          <a:ln w="63500">
            <a:solidFill>
              <a:srgbClr val="CD163E"/>
            </a:solidFill>
            <a:miter lim="800000"/>
          </a:ln>
        </p:spPr>
        <p:txBody>
          <a:bodyPr wrap="square" lIns="274320" tIns="182880" bIns="182880" rtlCol="0">
            <a:spAutoFit/>
          </a:bodyPr>
          <a:lstStyle/>
          <a:p>
            <a:r>
              <a:rPr lang="en-US" sz="5400" dirty="0">
                <a:solidFill>
                  <a:schemeClr val="bg1"/>
                </a:solidFill>
                <a:latin typeface="Oswald " panose="02000506000000020004" pitchFamily="2" charset="0"/>
              </a:rPr>
              <a:t>TECH STACK</a:t>
            </a:r>
            <a:endParaRPr lang="en-US" sz="5400" dirty="0"/>
          </a:p>
        </p:txBody>
      </p:sp>
      <p:sp>
        <p:nvSpPr>
          <p:cNvPr id="21" name="TextBox 20">
            <a:extLst>
              <a:ext uri="{FF2B5EF4-FFF2-40B4-BE49-F238E27FC236}">
                <ns2:creationId id="{7C3187F1-0F07-A74D-AC78-F375EE2109F6}"/>
              </a:ext>
            </a:extLst>
          </p:cNvPr>
          <p:cNvSpPr txBox="1"/>
          <p:nvPr/>
        </p:nvSpPr>
        <p:spPr>
          <a:xfrm>
            <a:off x="29027361" y="17247894"/>
            <a:ext cx="12440875" cy="1200329"/>
          </a:xfrm>
          <a:prstGeom prst="rect">
            <a:avLst/>
          </a:prstGeom>
          <a:solidFill>
            <a:srgbClr val="CD163E"/>
          </a:solidFill>
          <a:ln w="63500">
            <a:solidFill>
              <a:srgbClr val="CD163E"/>
            </a:solidFill>
            <a:miter lim="800000"/>
          </a:ln>
        </p:spPr>
        <p:txBody>
          <a:bodyPr wrap="square" lIns="274320" tIns="182880" bIns="182880" rtlCol="0">
            <a:spAutoFit/>
          </a:bodyPr>
          <a:lstStyle/>
          <a:p>
            <a:r>
              <a:rPr lang="en-US" sz="5400" dirty="0">
                <a:solidFill>
                  <a:schemeClr val="bg1"/>
                </a:solidFill>
                <a:latin typeface="Oswald " panose="02000506000000020004" pitchFamily="2" charset="0"/>
              </a:rPr>
              <a:t>FUTURE DIRECTIONS</a:t>
            </a:r>
            <a:endParaRPr lang="en-US" sz="5400" dirty="0"/>
          </a:p>
        </p:txBody>
      </p:sp>
      <p:sp>
        <p:nvSpPr>
          <p:cNvPr id="22" name="TextBox 21">
            <a:extLst>
              <a:ext uri="{FF2B5EF4-FFF2-40B4-BE49-F238E27FC236}">
                <ns2:creationId id="{6CCA855A-EF20-8B41-9B34-3F7BADB3088D}"/>
              </a:ext>
            </a:extLst>
          </p:cNvPr>
          <p:cNvSpPr txBox="1"/>
          <p:nvPr/>
        </p:nvSpPr>
        <p:spPr>
          <a:xfrm>
            <a:off x="29027361" y="18466689"/>
            <a:ext cx="12440875" cy="6177781"/>
          </a:xfrm>
          <a:prstGeom prst="rect">
            <a:avLst/>
          </a:prstGeom>
          <a:noFill/>
          <a:ln w="63500">
            <a:solidFill>
              <a:srgbClr val="CD163E"/>
            </a:solidFill>
            <a:miter lim="800000"/>
          </a:ln>
        </p:spPr>
        <p:txBody>
          <a:bodyPr wrap="square" lIns="274320" tIns="182880" rIns="274320" bIns="274320" rtlCol="0">
            <a:spAutoFit/>
          </a:bodyPr>
          <a:lstStyle/>
          <a:p>
            <a:pPr marL="457200" indent="-457200">
              <a:lnSpc>
                <a:spcPct val="150000"/>
              </a:lnSpc>
              <a:buFont typeface="Wingdings" pitchFamily="2" charset="2"/>
              <a:buChar char="Ø"/>
            </a:pPr>
            <a:r>
              <a:rPr lang="en-US" sz="3600" dirty="0">
                <a:latin typeface="Georgia" panose="02040502050405020303" pitchFamily="18" charset="0"/>
                <a:ea typeface="Georgia" pitchFamily="34" charset="-122"/>
                <a:cs typeface="Georgia" pitchFamily="34" charset="-120"/>
              </a:rPr>
              <a:t>• Add resume version comparison and exportable feedback reports.
• Improve explainability for every score and recommendation.
• Validate the system with larger datasets and recruiter review.</a:t>
            </a:r>
          </a:p>
          <a:p>
            <a:pPr marL="457200" indent="-457200">
              <a:lnSpc>
                <a:spcPct val="150000"/>
              </a:lnSpc>
              <a:buFont typeface="Wingdings" pitchFamily="2" charset="2"/>
              <a:buChar char="Ø"/>
            </a:pPr>
            <a:r>
              <a:rPr lang="en-US" sz="3600" dirty="0">
                <a:latin typeface="Georgia" panose="02040502050405020303" pitchFamily="18" charset="0"/>
                <a:ea typeface="Georgia" pitchFamily="34" charset="-122"/>
                <a:cs typeface="Georgia" pitchFamily="34" charset="-120"/>
              </a:rPr>
              <a:t/>
            </a:r>
          </a:p>
          <a:p>
            <a:pPr marL="457200" indent="-457200">
              <a:lnSpc>
                <a:spcPct val="150000"/>
              </a:lnSpc>
              <a:buFont typeface="Wingdings" pitchFamily="2" charset="2"/>
              <a:buChar char="Ø"/>
            </a:pPr>
            <a:r>
              <a:rPr lang="en-US" sz="3600" dirty="0">
                <a:latin typeface="Georgia" panose="02040502050405020303" pitchFamily="18" charset="0"/>
                <a:ea typeface="Georgia" pitchFamily="34" charset="-122"/>
                <a:cs typeface="Georgia" pitchFamily="34" charset="-120"/>
              </a:rPr>
              <a:t/>
            </a:r>
            <a:endParaRPr lang="en-US" sz="3600" dirty="0">
              <a:latin typeface="Georgia" panose="02040502050405020303" pitchFamily="18" charset="0"/>
            </a:endParaRPr>
          </a:p>
          <a:p>
            <a:pPr marL="457200" indent="-457200">
              <a:lnSpc>
                <a:spcPct val="150000"/>
              </a:lnSpc>
              <a:buFont typeface="Wingdings" pitchFamily="2" charset="2"/>
              <a:buChar char="Ø"/>
            </a:pPr>
            <a:endParaRPr lang="en-US" sz="3600" dirty="0">
              <a:latin typeface="Georgia" panose="02040502050405020303" pitchFamily="18" charset="0"/>
            </a:endParaRPr>
          </a:p>
          <a:p>
            <a:pPr marL="457200" indent="-457200">
              <a:lnSpc>
                <a:spcPct val="150000"/>
              </a:lnSpc>
              <a:buFont typeface="Wingdings" pitchFamily="2" charset="2"/>
              <a:buChar char="Ø"/>
            </a:pPr>
            <a:endParaRPr lang="en-US" sz="3600" dirty="0"/>
          </a:p>
        </p:txBody>
      </p:sp>
      <p:sp>
        <p:nvSpPr>
          <p:cNvPr id="2" name="Rectangle 1">
            <a:extLst>
              <a:ext uri="{FF2B5EF4-FFF2-40B4-BE49-F238E27FC236}">
                <ns2:creationId id="{90A7ED16-A16D-0A40-9CBA-414CC0FB88B1}"/>
              </a:ext>
            </a:extLst>
          </p:cNvPr>
          <p:cNvSpPr/>
          <p:nvPr/>
        </p:nvSpPr>
        <p:spPr>
          <a:xfrm>
            <a:off x="2169208" y="4893245"/>
            <a:ext cx="5576341" cy="584775"/>
          </a:xfrm>
          <a:prstGeom prst="rect">
            <a:avLst/>
          </a:prstGeom>
          <a:noFill/>
        </p:spPr>
        <p:txBody>
          <a:bodyPr wrap="square">
            <a:spAutoFit/>
          </a:bodyPr>
          <a:lstStyle/>
          <a:p>
            <a:pPr algn="ctr"/>
            <a:r>
              <a:rPr lang="en-US" sz="3200" i="1" dirty="0">
                <a:solidFill>
                  <a:schemeClr val="bg1"/>
                </a:solidFill>
                <a:latin typeface="Georgia" panose="02040502050405020303" pitchFamily="18" charset="0"/>
              </a:rPr>
              <a:t>School of Computing</a:t>
            </a:r>
            <a:endParaRPr lang="en-US" sz="3200" i="1" dirty="0">
              <a:solidFill>
                <a:schemeClr val="bg1"/>
              </a:solidFill>
            </a:endParaRPr>
          </a:p>
        </p:txBody>
      </p:sp>
      <p:sp>
        <p:nvSpPr>
          <p:cNvPr id="10" name="Rectangle 9">
            <a:extLst>
              <a:ext uri="{FF2B5EF4-FFF2-40B4-BE49-F238E27FC236}">
                <ns2:creationId id="{27E64334-C9AA-1EC0-E7C9-97BD27D9E875}"/>
              </a:ext>
            </a:extLst>
          </p:cNvPr>
          <p:cNvSpPr/>
          <p:nvPr/>
        </p:nvSpPr>
        <p:spPr>
          <a:xfrm>
            <a:off x="3041867" y="3792290"/>
            <a:ext cx="3831022" cy="1001582"/>
          </a:xfrm>
          <a:prstGeom prst="rect">
            <a:avLst/>
          </a:prstGeom>
          <a:ln>
            <a:solidFill>
              <a:srgbClr val="CD163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t>Franklin College of Arts and Sciences</a:t>
            </a:r>
          </a:p>
        </p:txBody>
      </p:sp>
      <p:sp>
        <p:nvSpPr>
          <p:cNvPr id="11" name="TextBox 10">
            <a:extLst>
              <a:ext uri="{FF2B5EF4-FFF2-40B4-BE49-F238E27FC236}">
                <ns2:creationId id="{8CABD2C0-C5E0-CCEC-CB45-D3202E213DE2}"/>
              </a:ext>
            </a:extLst>
          </p:cNvPr>
          <p:cNvSpPr txBox="1"/>
          <p:nvPr/>
        </p:nvSpPr>
        <p:spPr>
          <a:xfrm>
            <a:off x="8860221" y="3575671"/>
            <a:ext cx="30175200" cy="769441"/>
          </a:xfrm>
          <a:prstGeom prst="rect">
            <a:avLst/>
          </a:prstGeom>
          <a:noFill/>
        </p:spPr>
        <p:txBody>
          <a:bodyPr wrap="square" rtlCol="0">
            <a:spAutoFit/>
          </a:bodyPr>
          <a:lstStyle/>
          <a:p>
            <a:r>
              <a:rPr lang="en-US" sz="4400" b="1" dirty="0">
                <a:solidFill>
                  <a:schemeClr val="tx1">
                    <a:lumMod val="85000"/>
                    <a:lumOff val="15000"/>
                  </a:schemeClr>
                </a:solidFill>
                <a:latin typeface="Georgia" panose="02040502050405020303" pitchFamily="18" charset="0"/>
              </a:rPr>
              <a:t>fp24782@uga.edu, </a:t>
            </a:r>
            <a:r>
              <a:rPr lang="en-US" sz="4400" b="1" dirty="0" err="1">
                <a:solidFill>
                  <a:schemeClr val="tx1">
                    <a:lumMod val="85000"/>
                    <a:lumOff val="15000"/>
                  </a:schemeClr>
                </a:solidFill>
                <a:latin typeface="Georgia" panose="02040502050405020303" pitchFamily="18" charset="0"/>
              </a:rPr>
              <a:t>kkochut@uga.edu</a:t>
            </a:r>
            <a:r>
              <a:rPr lang="en-US" sz="4400" b="1" dirty="0">
                <a:solidFill>
                  <a:schemeClr val="tx1">
                    <a:lumMod val="85000"/>
                    <a:lumOff val="15000"/>
                  </a:schemeClr>
                </a:solidFill>
                <a:latin typeface="Georgia" panose="02040502050405020303" pitchFamily="18" charset="0"/>
              </a:rPr>
              <a:t> </a:t>
            </a:r>
          </a:p>
        </p:txBody>
      </p:sp>
      <p:sp>
        <p:nvSpPr>
          <p:cNvPr id="26" name="TextBox 25">
            <a:extLst>
              <a:ext uri="{FF2B5EF4-FFF2-40B4-BE49-F238E27FC236}">
                <ns2:creationId id="{E71D4299-ED4F-D89F-3AD9-4C743858513E}"/>
              </a:ext>
            </a:extLst>
          </p:cNvPr>
          <p:cNvSpPr txBox="1"/>
          <p:nvPr/>
        </p:nvSpPr>
        <p:spPr>
          <a:xfrm>
            <a:off x="-1" y="-45066"/>
            <a:ext cx="42046780" cy="291663"/>
          </a:xfrm>
          <a:prstGeom prst="rect">
            <a:avLst/>
          </a:prstGeom>
          <a:solidFill>
            <a:srgbClr val="CD163E"/>
          </a:solidFill>
          <a:ln w="63500">
            <a:solidFill>
              <a:srgbClr val="CD163E"/>
            </a:solidFill>
            <a:miter lim="800000"/>
          </a:ln>
        </p:spPr>
        <p:txBody>
          <a:bodyPr wrap="square" lIns="274320" tIns="182880" bIns="182880" rtlCol="0">
            <a:spAutoFit/>
          </a:bodyPr>
          <a:lstStyle/>
          <a:p>
            <a:endParaRPr lang="en-US" sz="5400" dirty="0"/>
          </a:p>
        </p:txBody>
      </p:sp>
      <p:sp>
        <p:nvSpPr>
          <p:cNvPr id="27" name="TextBox 26">
            <a:extLst>
              <a:ext uri="{FF2B5EF4-FFF2-40B4-BE49-F238E27FC236}">
                <ns2:creationId id="{8C6985F8-E044-5C40-EA6B-A1BEDFC96E72}"/>
              </a:ext>
            </a:extLst>
          </p:cNvPr>
          <p:cNvSpPr txBox="1"/>
          <p:nvPr/>
        </p:nvSpPr>
        <p:spPr>
          <a:xfrm>
            <a:off x="0" y="30858629"/>
            <a:ext cx="42046779" cy="291663"/>
          </a:xfrm>
          <a:prstGeom prst="rect">
            <a:avLst/>
          </a:prstGeom>
          <a:solidFill>
            <a:srgbClr val="CD163E"/>
          </a:solidFill>
          <a:ln w="63500">
            <a:solidFill>
              <a:srgbClr val="CD163E"/>
            </a:solidFill>
            <a:miter lim="800000"/>
          </a:ln>
        </p:spPr>
        <p:txBody>
          <a:bodyPr wrap="square" lIns="274320" tIns="182880" bIns="182880" rtlCol="0">
            <a:spAutoFit/>
          </a:bodyPr>
          <a:lstStyle/>
          <a:p>
            <a:endParaRPr lang="en-US" sz="5400" dirty="0"/>
          </a:p>
        </p:txBody>
      </p:sp>
      <p:sp>
        <p:nvSpPr>
          <p:cNvPr id="28" name="TextBox 27">
            <a:extLst>
              <a:ext uri="{FF2B5EF4-FFF2-40B4-BE49-F238E27FC236}">
                <ns2:creationId id="{31D30745-09CB-C4FD-DCDA-F1D4BF9B198B}"/>
              </a:ext>
            </a:extLst>
          </p:cNvPr>
          <p:cNvSpPr txBox="1"/>
          <p:nvPr/>
        </p:nvSpPr>
        <p:spPr>
          <a:xfrm>
            <a:off x="-45619" y="-45066"/>
            <a:ext cx="312479" cy="31195358"/>
          </a:xfrm>
          <a:prstGeom prst="rect">
            <a:avLst/>
          </a:prstGeom>
          <a:solidFill>
            <a:srgbClr val="CD163E"/>
          </a:solidFill>
          <a:ln w="63500">
            <a:solidFill>
              <a:srgbClr val="CD163E"/>
            </a:solidFill>
            <a:miter lim="800000"/>
          </a:ln>
        </p:spPr>
        <p:txBody>
          <a:bodyPr wrap="square" lIns="274320" tIns="182880" bIns="182880" rtlCol="0">
            <a:spAutoFit/>
          </a:bodyPr>
          <a:lstStyle/>
          <a:p>
            <a:endParaRPr lang="en-US" sz="5400" dirty="0"/>
          </a:p>
        </p:txBody>
      </p:sp>
      <p:sp>
        <p:nvSpPr>
          <p:cNvPr id="30" name="TextBox 29">
            <a:extLst>
              <a:ext uri="{FF2B5EF4-FFF2-40B4-BE49-F238E27FC236}">
                <ns2:creationId id="{CBC27CA7-65A6-F298-3FE8-1BA7B4B5A224}"/>
              </a:ext>
            </a:extLst>
          </p:cNvPr>
          <p:cNvSpPr txBox="1"/>
          <p:nvPr/>
        </p:nvSpPr>
        <p:spPr>
          <a:xfrm>
            <a:off x="41747638" y="-45066"/>
            <a:ext cx="314762" cy="31195359"/>
          </a:xfrm>
          <a:prstGeom prst="rect">
            <a:avLst/>
          </a:prstGeom>
          <a:solidFill>
            <a:srgbClr val="CD163E"/>
          </a:solidFill>
          <a:ln w="63500">
            <a:solidFill>
              <a:srgbClr val="CD163E"/>
            </a:solidFill>
            <a:miter lim="800000"/>
          </a:ln>
        </p:spPr>
        <p:txBody>
          <a:bodyPr wrap="square" lIns="274320" tIns="182880" bIns="182880" rtlCol="0">
            <a:spAutoFit/>
          </a:bodyPr>
          <a:lstStyle/>
          <a:p>
            <a:endParaRPr lang="en-US" sz="5400" dirty="0"/>
          </a:p>
        </p:txBody>
      </p:sp>
      <p:sp>
        <p:nvSpPr>
          <p:cNvPr id="31" name="Shape 0">
            <a:extLst>
              <a:ext uri="{FF2B5EF4-FFF2-40B4-BE49-F238E27FC236}">
                <ns2:creationId id="{EA08D27A-194C-ADD0-DA4B-3A33D5D169AF}"/>
              </a:ext>
            </a:extLst>
          </p:cNvPr>
          <p:cNvSpPr/>
          <p:nvPr/>
        </p:nvSpPr>
        <p:spPr>
          <a:xfrm>
            <a:off x="8483301" y="4605096"/>
            <a:ext cx="33064085" cy="2165155"/>
          </a:xfrm>
          <a:prstGeom prst="rect">
            <a:avLst/>
          </a:prstGeom>
          <a:solidFill>
            <a:schemeClr val="tx1">
              <a:lumMod val="95000"/>
              <a:lumOff val="5000"/>
            </a:schemeClr>
          </a:solidFill>
          <a:ln w="12700">
            <a:solidFill>
              <a:srgbClr val="D8D0C4"/>
            </a:solidFill>
            <a:prstDash val="solid"/>
          </a:ln>
        </p:spPr>
        <p:txBody>
          <a:bodyPr/>
          <a:lstStyle/>
          <a:p>
            <a:endParaRPr lang="en-US" dirty="0"/>
          </a:p>
        </p:txBody>
      </p:sp>
      <p:sp>
        <p:nvSpPr>
          <p:cNvPr id="33" name="Text 1">
            <a:extLst>
              <a:ext uri="{FF2B5EF4-FFF2-40B4-BE49-F238E27FC236}">
                <ns2:creationId id="{4FD9D5D4-DD41-99AB-5938-CDFA53F43BAB}"/>
              </a:ext>
            </a:extLst>
          </p:cNvPr>
          <p:cNvSpPr/>
          <p:nvPr/>
        </p:nvSpPr>
        <p:spPr>
          <a:xfrm>
            <a:off x="16425221" y="5041469"/>
            <a:ext cx="14990042" cy="219457"/>
          </a:xfrm>
          <a:prstGeom prst="rect">
            <a:avLst/>
          </a:prstGeom>
          <a:noFill/>
          <a:ln/>
        </p:spPr>
        <p:txBody>
          <a:bodyPr wrap="square" rtlCol="0" anchor="ctr"/>
          <a:lstStyle/>
          <a:p>
            <a:pPr marL="0" indent="0" algn="ctr">
              <a:buNone/>
            </a:pPr>
            <a:r>
              <a:rPr lang="en-US" sz="3000" dirty="0">
                <a:solidFill>
                  <a:schemeClr val="bg1"/>
                </a:solidFill>
                <a:latin typeface="Oswald" pitchFamily="2" charset="77"/>
              </a:rPr>
              <a:t>WHAT IS THE RESUME ANALYZER?</a:t>
            </a:r>
          </a:p>
        </p:txBody>
      </p:sp>
      <p:sp>
        <p:nvSpPr>
          <p:cNvPr id="34" name="Text 2">
            <a:extLst>
              <a:ext uri="{FF2B5EF4-FFF2-40B4-BE49-F238E27FC236}">
                <ns2:creationId id="{586059CF-7914-3185-F087-DD3E863ACE8E}"/>
              </a:ext>
            </a:extLst>
          </p:cNvPr>
          <p:cNvSpPr/>
          <p:nvPr/>
        </p:nvSpPr>
        <p:spPr>
          <a:xfrm>
            <a:off x="9355961" y="5475962"/>
            <a:ext cx="31912735" cy="1122935"/>
          </a:xfrm>
          <a:prstGeom prst="rect">
            <a:avLst/>
          </a:prstGeom>
          <a:noFill/>
          <a:ln/>
        </p:spPr>
        <p:txBody>
          <a:bodyPr wrap="square" rtlCol="0" anchor="ctr"/>
          <a:lstStyle/>
          <a:p>
            <a:pPr marL="0" indent="0" algn="ctr">
              <a:buNone/>
            </a:pPr>
            <a:r>
              <a:rPr lang="en-US" sz="3500" dirty="0">
                <a:solidFill>
                  <a:schemeClr val="bg1"/>
                </a:solidFill>
              </a:rPr>
              <a:t>Resume Analyzer AI is a web-based application that helps users evaluate resumes against a target job description using AI-generated feedback. It accepts a PDF resume, analyzes it across ATS compatibility, tone and style, content, structure, and skills, and returns structured suggestions to improve resume quality and job alignment.</a:t>
            </a:r>
          </a:p>
        </p:txBody>
      </p:sp>
      <p:sp>
        <p:nvSpPr>
          <p:cNvPr id="56" name="TextBox 55">
            <a:extLst>
              <a:ext uri="{FF2B5EF4-FFF2-40B4-BE49-F238E27FC236}">
                <ns2:creationId id="{05EBEB0D-23F3-7D49-7121-4B96245CDE1A}"/>
              </a:ext>
            </a:extLst>
          </p:cNvPr>
          <p:cNvSpPr txBox="1"/>
          <p:nvPr/>
        </p:nvSpPr>
        <p:spPr>
          <a:xfrm>
            <a:off x="413094" y="20295350"/>
            <a:ext cx="12471503" cy="3785652"/>
          </a:xfrm>
          <a:prstGeom prst="rect">
            <a:avLst/>
          </a:prstGeom>
          <a:noFill/>
          <a:ln w="63500">
            <a:solidFill>
              <a:srgbClr val="CD163E"/>
            </a:solidFill>
            <a:miter lim="800000"/>
          </a:ln>
        </p:spPr>
        <p:txBody>
          <a:bodyPr wrap="square" lIns="274320" tIns="182880" rIns="274320" bIns="274320" rtlCol="0">
            <a:spAutoFit/>
          </a:bodyPr>
          <a:lstStyle/>
          <a:p>
            <a:r>
              <a:rPr lang="en-US" sz="2600"/>
              <a:t>• React Router + TypeScript for the application framework</a:t>
            </a:r>
          </a:p>
          <a:p>
            <a:r>
              <a:rPr lang="en-US" sz="2600"/>
              <a:t>• React 19 and Zustand for UI and state management</a:t>
            </a:r>
          </a:p>
          <a:p>
            <a:r>
              <a:rPr lang="en-US" sz="2600"/>
              <a:t>• PDF.js for resume preview and PDF processing</a:t>
            </a:r>
          </a:p>
          <a:p>
            <a:r>
              <a:rPr lang="en-US" sz="2600"/>
              <a:t>• AI services for resume scoring and feedback generation</a:t>
            </a:r>
          </a:p>
          <a:p>
            <a:r>
              <a:rPr lang="en-US" sz="2600"/>
              <a:t>• File storage and key-value persistence for saved analyses</a:t>
            </a:r>
          </a:p>
        </p:txBody>
      </p:sp>
      <p:cxnSp>
        <p:nvCxnSpPr>
          <p:cNvPr id="1039" name="Straight Connector 1038">
            <a:extLst>
              <a:ext uri="{FF2B5EF4-FFF2-40B4-BE49-F238E27FC236}">
                <ns2:creationId id="{6C03F305-D1AB-4745-C393-0FC11055CEF8}"/>
              </a:ext>
            </a:extLst>
          </p:cNvPr>
          <p:cNvCxnSpPr>
            <a:cxnSpLocks/>
          </p:cNvCxnSpPr>
          <p:nvPr/>
        </p:nvCxnSpPr>
        <p:spPr>
          <a:xfrm flipV="1">
            <a:off x="4214769" y="29278860"/>
            <a:ext cx="0" cy="46312"/>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1074" name="TextBox 1073">
            <a:extLst>
              <a:ext uri="{FF2B5EF4-FFF2-40B4-BE49-F238E27FC236}">
                <ns2:creationId id="{39BF1AEB-0EFE-E737-073D-1207B1F4F478}"/>
              </a:ext>
            </a:extLst>
          </p:cNvPr>
          <p:cNvSpPr txBox="1"/>
          <p:nvPr/>
        </p:nvSpPr>
        <p:spPr>
          <a:xfrm>
            <a:off x="13288898" y="7101051"/>
            <a:ext cx="15459689" cy="1200329"/>
          </a:xfrm>
          <a:prstGeom prst="rect">
            <a:avLst/>
          </a:prstGeom>
          <a:solidFill>
            <a:srgbClr val="CD163E"/>
          </a:solidFill>
          <a:ln w="63500">
            <a:solidFill>
              <a:srgbClr val="CD163E"/>
            </a:solidFill>
            <a:miter lim="800000"/>
          </a:ln>
        </p:spPr>
        <p:txBody>
          <a:bodyPr wrap="square" lIns="274320" tIns="182880" bIns="182880" rtlCol="0">
            <a:spAutoFit/>
          </a:bodyPr>
          <a:lstStyle/>
          <a:p>
            <a:r>
              <a:rPr lang="en-US" sz="5400" dirty="0">
                <a:solidFill>
                  <a:schemeClr val="bg1"/>
                </a:solidFill>
                <a:latin typeface="Oswald " panose="02000506000000020004" pitchFamily="2" charset="0"/>
              </a:rPr>
              <a:t>CONCEPTUAL WORKFLOW</a:t>
            </a:r>
            <a:endParaRPr lang="en-US" sz="5400" dirty="0"/>
          </a:p>
        </p:txBody>
      </p:sp>
      <p:sp>
        <p:nvSpPr>
          <p:cNvPr id="1090" name="TextBox 1089">
            <a:extLst>
              <a:ext uri="{FF2B5EF4-FFF2-40B4-BE49-F238E27FC236}">
                <ns2:creationId id="{604BA589-51E7-EAA6-48D7-FBFBC8EC21C5}"/>
              </a:ext>
            </a:extLst>
          </p:cNvPr>
          <p:cNvSpPr txBox="1"/>
          <p:nvPr/>
        </p:nvSpPr>
        <p:spPr>
          <a:xfrm>
            <a:off x="29116253" y="24804344"/>
            <a:ext cx="12378914" cy="4515788"/>
          </a:xfrm>
          <a:prstGeom prst="rect">
            <a:avLst/>
          </a:prstGeom>
          <a:noFill/>
          <a:ln w="63500">
            <a:solidFill>
              <a:srgbClr val="CD163E"/>
            </a:solidFill>
            <a:miter lim="800000"/>
          </a:ln>
        </p:spPr>
        <p:txBody>
          <a:bodyPr wrap="square" lIns="274320" tIns="182880" rIns="274320" bIns="274320" rtlCol="0">
            <a:spAutoFit/>
          </a:bodyPr>
          <a:lstStyle/>
          <a:p>
            <a:r>
              <a:rPr lang="en-US" sz="2600"/>
              <a:t>• Analyzes resumes against a target job instead of giving generic feedback</a:t>
            </a:r>
          </a:p>
          <a:p>
            <a:r>
              <a:rPr lang="en-US" sz="2600"/>
              <a:t>• Returns structured section scores for ATS, content, structure, tone, and skills</a:t>
            </a:r>
          </a:p>
          <a:p>
            <a:r>
              <a:rPr lang="en-US" sz="2600"/>
              <a:t>• Creates a faster and more repeatable review workflow for job seekers</a:t>
            </a:r>
          </a:p>
        </p:txBody>
      </p:sp>
      <p:sp>
        <p:nvSpPr>
          <p:cNvPr id="1095" name="TextBox 1094">
            <a:extLst>
              <a:ext uri="{FF2B5EF4-FFF2-40B4-BE49-F238E27FC236}">
                <ns2:creationId id="{D5046B6D-B592-AAE0-6B1C-74CAD70D00E3}"/>
              </a:ext>
            </a:extLst>
          </p:cNvPr>
          <p:cNvSpPr txBox="1"/>
          <p:nvPr/>
        </p:nvSpPr>
        <p:spPr>
          <a:xfrm>
            <a:off x="29188397" y="15924618"/>
            <a:ext cx="12398208" cy="615553"/>
          </a:xfrm>
          <a:prstGeom prst="rect">
            <a:avLst/>
          </a:prstGeom>
          <a:noFill/>
        </p:spPr>
        <p:txBody>
          <a:bodyPr wrap="square" rtlCol="0">
            <a:spAutoFit/>
          </a:bodyPr>
          <a:lstStyle/>
          <a:p>
            <a:pPr algn="ctr"/>
            <a:r>
              <a:rPr lang="en-US" sz="3400" i="1" dirty="0"/>
              <a:t>RESUME EVALUATION DIMENSIONS</a:t>
            </a:r>
          </a:p>
        </p:txBody>
      </p:sp>
      <p:sp>
        <p:nvSpPr>
          <p:cNvPr id="1099" name="TextBox 1098">
            <a:extLst>
              <a:ext uri="{FF2B5EF4-FFF2-40B4-BE49-F238E27FC236}">
                <ns2:creationId id="{343C83D3-BF59-4A37-D7D0-AE13F8844BDA}"/>
              </a:ext>
            </a:extLst>
          </p:cNvPr>
          <p:cNvSpPr txBox="1"/>
          <p:nvPr/>
        </p:nvSpPr>
        <p:spPr>
          <a:xfrm>
            <a:off x="13253711" y="25590327"/>
            <a:ext cx="15507076" cy="1200329"/>
          </a:xfrm>
          <a:prstGeom prst="rect">
            <a:avLst/>
          </a:prstGeom>
          <a:solidFill>
            <a:srgbClr val="CD163E"/>
          </a:solidFill>
          <a:ln w="63500">
            <a:solidFill>
              <a:srgbClr val="CD163E"/>
            </a:solidFill>
            <a:miter lim="800000"/>
          </a:ln>
        </p:spPr>
        <p:txBody>
          <a:bodyPr wrap="square" lIns="274320" tIns="182880" bIns="182880" rtlCol="0">
            <a:spAutoFit/>
          </a:bodyPr>
          <a:lstStyle/>
          <a:p>
            <a:r>
              <a:rPr lang="en-US" sz="5400" dirty="0">
                <a:solidFill>
                  <a:schemeClr val="bg1"/>
                </a:solidFill>
                <a:latin typeface="Oswald " panose="02000506000000020004" pitchFamily="2" charset="0"/>
              </a:rPr>
              <a:t>CURRENT LIMITATIONS</a:t>
            </a:r>
            <a:endParaRPr lang="en-US" sz="5400" dirty="0"/>
          </a:p>
        </p:txBody>
      </p:sp>
      <p:sp>
        <p:nvSpPr>
          <p:cNvPr id="1100" name="TextBox 1099">
            <a:extLst>
              <a:ext uri="{FF2B5EF4-FFF2-40B4-BE49-F238E27FC236}">
                <ns2:creationId id="{8BE9F099-E0CA-C3B1-E394-4020EE104CBC}"/>
              </a:ext>
            </a:extLst>
          </p:cNvPr>
          <p:cNvSpPr txBox="1"/>
          <p:nvPr/>
        </p:nvSpPr>
        <p:spPr>
          <a:xfrm>
            <a:off x="13253711" y="27083771"/>
            <a:ext cx="15507076" cy="2853795"/>
          </a:xfrm>
          <a:prstGeom prst="rect">
            <a:avLst/>
          </a:prstGeom>
          <a:noFill/>
          <a:ln w="63500">
            <a:solidFill>
              <a:srgbClr val="CD163E"/>
            </a:solidFill>
            <a:miter lim="800000"/>
          </a:ln>
        </p:spPr>
        <p:txBody>
          <a:bodyPr wrap="square" lIns="274320" tIns="182880" rIns="274320" bIns="274320" rtlCol="0">
            <a:spAutoFit/>
          </a:bodyPr>
          <a:lstStyle/>
          <a:p>
            <a:pPr marL="571500" indent="-571500">
              <a:lnSpc>
                <a:spcPct val="150000"/>
              </a:lnSpc>
              <a:buFont typeface="Wingdings" pitchFamily="2" charset="2"/>
              <a:buChar char="Ø"/>
            </a:pPr>
            <a:r>
              <a:rPr lang="en-US" sz="3600" dirty="0">
                <a:latin typeface="Georgia" panose="02040502050405020303" pitchFamily="18" charset="0"/>
                <a:ea typeface="Georgia" pitchFamily="34" charset="-122"/>
                <a:cs typeface="Georgia" pitchFamily="34" charset="-120"/>
              </a:rPr>
              <a:t>• Feedback quality depends on the clarity of the uploaded resume and target job description.
• AI-generated scores may vary and still need broader benchmarking.
• The current system has not yet been validated through formal recruiter studies.</a:t>
            </a:r>
          </a:p>
          <a:p>
            <a:pPr marL="571500" indent="-571500">
              <a:lnSpc>
                <a:spcPct val="150000"/>
              </a:lnSpc>
              <a:buFont typeface="Wingdings" pitchFamily="2" charset="2"/>
              <a:buChar char="Ø"/>
            </a:pPr>
            <a:r>
              <a:rPr lang="en-US" sz="3600" dirty="0">
                <a:latin typeface="Georgia" panose="02040502050405020303" pitchFamily="18" charset="0"/>
                <a:ea typeface="Georgia" pitchFamily="34" charset="-122"/>
                <a:cs typeface="Georgia" pitchFamily="34" charset="-120"/>
              </a:rPr>
              <a:t/>
            </a:r>
            <a:endParaRPr lang="en-US" sz="3600" dirty="0">
              <a:latin typeface="Georgia" panose="02040502050405020303" pitchFamily="18" charset="0"/>
            </a:endParaRPr>
          </a:p>
          <a:p>
            <a:pPr marL="571500" indent="-571500">
              <a:lnSpc>
                <a:spcPct val="150000"/>
              </a:lnSpc>
              <a:buFont typeface="Wingdings" pitchFamily="2" charset="2"/>
              <a:buChar char="Ø"/>
            </a:pPr>
            <a:r>
              <a:rPr lang="en-US" sz="3600" dirty="0">
                <a:latin typeface="Georgia" panose="02040502050405020303" pitchFamily="18" charset="0"/>
                <a:ea typeface="Georgia" pitchFamily="34" charset="-122"/>
                <a:cs typeface="Georgia" pitchFamily="34" charset="-120"/>
              </a:rPr>
              <a:t/>
            </a:r>
            <a:endParaRPr lang="en-US" sz="3600" dirty="0">
              <a:latin typeface="Georgia" panose="02040502050405020303" pitchFamily="18" charset="0"/>
            </a:endParaRPr>
          </a:p>
        </p:txBody>
      </p:sp>
      <p:graphicFrame>
        <p:nvGraphicFramePr>
          <p:cNvPr id="29" name="Table 28">
            <a:extLst>
              <a:ext uri="{FF2B5EF4-FFF2-40B4-BE49-F238E27FC236}">
                <ns2:creationId id="{BA87D268-CB10-081D-F690-CEB2F981E522}"/>
              </a:ext>
            </a:extLst>
          </p:cNvPr>
          <p:cNvGraphicFramePr>
            <a:graphicFrameLocks noGrp="1"/>
          </p:cNvGraphicFramePr>
          <p:nvPr>
            <p:extLst>
              <p:ext uri="{D42A27DB-BD31-4B8C-83A1-F6EECF244321}">
                <ns3:modId val="3497128148"/>
              </p:ext>
            </p:extLst>
          </p:nvPr>
        </p:nvGraphicFramePr>
        <p:xfrm>
          <a:off x="2979079" y="26324643"/>
          <a:ext cx="1166875" cy="2834640"/>
        </p:xfrm>
        <a:graphic>
          <a:graphicData uri="http://schemas.openxmlformats.org/drawingml/2006/table">
            <a:tbl>
              <a:tblPr/>
              <a:tblGrid>
                <a:gridCol w="208280">
                  <a:extLst>
                    <a:ext uri="{9D8B030D-6E8A-4147-A177-3AD203B41FA5}">
                      <ns2:colId val="2045484234"/>
                    </a:ext>
                  </a:extLst>
                </a:gridCol>
                <a:gridCol w="208280">
                  <a:extLst>
                    <a:ext uri="{9D8B030D-6E8A-4147-A177-3AD203B41FA5}">
                      <ns2:colId val="3429459647"/>
                    </a:ext>
                  </a:extLst>
                </a:gridCol>
                <a:gridCol w="208280">
                  <a:extLst>
                    <a:ext uri="{9D8B030D-6E8A-4147-A177-3AD203B41FA5}">
                      <ns2:colId val="1209281028"/>
                    </a:ext>
                  </a:extLst>
                </a:gridCol>
                <a:gridCol w="208280">
                  <a:extLst>
                    <a:ext uri="{9D8B030D-6E8A-4147-A177-3AD203B41FA5}">
                      <ns2:colId val="2628126617"/>
                    </a:ext>
                  </a:extLst>
                </a:gridCol>
                <a:gridCol w="333755">
                  <a:extLst>
                    <a:ext uri="{9D8B030D-6E8A-4147-A177-3AD203B41FA5}">
                      <ns2:colId val="2796515787"/>
                    </a:ext>
                  </a:extLst>
                </a:gridCol>
              </a:tblGrid>
              <a:tr h="0">
                <a:tc>
                  <a:txBody>
                    <a:bodyPr/>
                    <a:lstStyle/>
                    <a:p>
                      <a:pPr marL="0" indent="0" algn="ctr">
                        <a:buNone/>
                      </a:pPr>
                      <a:endParaRPr lang="en-US" sz="2500" dirty="0">
                        <a:latin typeface="Georgia" charset="0"/>
                        <a:ea typeface="Georgia" charset="0"/>
                        <a:cs typeface="Georgia"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BA0C2F"/>
                    </a:solidFill>
                  </a:tcPr>
                </a:tc>
                <a:tc>
                  <a:txBody>
                    <a:bodyPr/>
                    <a:lstStyle/>
                    <a:p>
                      <a:pPr marL="0" indent="0" algn="ctr">
                        <a:buNone/>
                      </a:pPr>
                      <a:endParaRPr lang="en-US" sz="2500" dirty="0">
                        <a:latin typeface="Georgia" charset="0"/>
                        <a:ea typeface="Georgia" charset="0"/>
                        <a:cs typeface="Georgia"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BA0C2F"/>
                    </a:solidFill>
                  </a:tcPr>
                </a:tc>
                <a:tc>
                  <a:txBody>
                    <a:bodyPr/>
                    <a:lstStyle/>
                    <a:p>
                      <a:pPr marL="0" indent="0" algn="ctr">
                        <a:buNone/>
                      </a:pPr>
                      <a:endParaRPr lang="en-US" sz="2500" dirty="0">
                        <a:latin typeface="Georgia" charset="0"/>
                        <a:ea typeface="Georgia" charset="0"/>
                        <a:cs typeface="Georgia"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BA0C2F"/>
                    </a:solidFill>
                  </a:tcPr>
                </a:tc>
                <a:tc>
                  <a:txBody>
                    <a:bodyPr/>
                    <a:lstStyle/>
                    <a:p>
                      <a:pPr marL="0" indent="0" algn="ctr">
                        <a:buNone/>
                      </a:pPr>
                      <a:endParaRPr lang="en-US" sz="2500" dirty="0">
                        <a:latin typeface="Georgia" charset="0"/>
                        <a:ea typeface="Georgia" charset="0"/>
                        <a:cs typeface="Georgia"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BA0C2F"/>
                    </a:solidFill>
                  </a:tcPr>
                </a:tc>
                <a:tc>
                  <a:txBody>
                    <a:bodyPr/>
                    <a:lstStyle/>
                    <a:p>
                      <a:pPr marL="0" indent="0">
                        <a:buNone/>
                      </a:pPr>
                      <a:endParaRPr lang="en-US" sz="2500" dirty="0">
                        <a:latin typeface="Georgia" charset="0"/>
                        <a:ea typeface="Georgia" charset="0"/>
                        <a:cs typeface="Georgia"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BA0C2F"/>
                    </a:solidFill>
                  </a:tcPr>
                </a:tc>
                <a:extLst>
                  <a:ext uri="{0D108BD9-81ED-4DB2-BD59-A6C34878D82A}">
                    <ns2:rowId val="1863301998"/>
                  </a:ext>
                </a:extLst>
              </a:tr>
              <a:tr h="0">
                <a:tc>
                  <a:txBody>
                    <a:bodyPr/>
                    <a:lstStyle/>
                    <a:p>
                      <a:pPr marL="0" indent="0" algn="ctr">
                        <a:buNone/>
                      </a:pPr>
                      <a:endParaRPr lang="en-US" sz="2500" dirty="0">
                        <a:latin typeface="Georgia" charset="0"/>
                        <a:ea typeface="Georgia" charset="0"/>
                        <a:cs typeface="Georgia"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endParaRPr lang="en-US" sz="2500" dirty="0">
                        <a:latin typeface="Georgia" charset="0"/>
                        <a:ea typeface="Georgia" charset="0"/>
                        <a:cs typeface="Georgia"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endParaRPr lang="en-US" sz="2500" dirty="0">
                        <a:latin typeface="Georgia" charset="0"/>
                        <a:ea typeface="Georgia" charset="0"/>
                        <a:cs typeface="Georgia"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endParaRPr lang="en-US" sz="2500" dirty="0">
                        <a:latin typeface="Georgia" charset="0"/>
                        <a:ea typeface="Georgia" charset="0"/>
                        <a:cs typeface="Georgia"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l">
                        <a:buNone/>
                      </a:pPr>
                      <a:endParaRPr lang="en-US" sz="2500" dirty="0">
                        <a:latin typeface="Georgia" charset="0"/>
                        <a:ea typeface="Georgia" charset="0"/>
                        <a:cs typeface="Georgia"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ns2:rowId val="3043785266"/>
                  </a:ext>
                </a:extLst>
              </a:tr>
              <a:tr h="0">
                <a:tc>
                  <a:txBody>
                    <a:bodyPr/>
                    <a:lstStyle/>
                    <a:p>
                      <a:pPr marL="0" indent="0" algn="ctr">
                        <a:buNone/>
                      </a:pPr>
                      <a:endParaRPr lang="en-US" sz="2500" dirty="0">
                        <a:latin typeface="Georgia" charset="0"/>
                        <a:ea typeface="Georgia" charset="0"/>
                        <a:cs typeface="Georgia"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endParaRPr lang="en-US" sz="2500" dirty="0">
                        <a:latin typeface="Georgia" charset="0"/>
                        <a:ea typeface="Georgia" charset="0"/>
                        <a:cs typeface="Georgia"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endParaRPr lang="en-US" sz="2500" dirty="0">
                        <a:latin typeface="Georgia" charset="0"/>
                        <a:ea typeface="Georgia" charset="0"/>
                        <a:cs typeface="Georgia"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endParaRPr lang="en-US" sz="2500" dirty="0">
                        <a:latin typeface="Georgia" charset="0"/>
                        <a:ea typeface="Georgia" charset="0"/>
                        <a:cs typeface="Georgia"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l">
                        <a:buNone/>
                      </a:pPr>
                      <a:endParaRPr lang="en-US" sz="2500" dirty="0">
                        <a:latin typeface="Georgia" charset="0"/>
                        <a:ea typeface="Georgia" charset="0"/>
                        <a:cs typeface="Georgia"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ns2:rowId val="2853177355"/>
                  </a:ext>
                </a:extLst>
              </a:tr>
              <a:tr h="0">
                <a:tc>
                  <a:txBody>
                    <a:bodyPr/>
                    <a:lstStyle/>
                    <a:p>
                      <a:pPr marL="0" indent="0" algn="ctr">
                        <a:buNone/>
                      </a:pPr>
                      <a:endParaRPr lang="en-US" sz="2500" dirty="0">
                        <a:latin typeface="Georgia" charset="0"/>
                        <a:ea typeface="Georgia" charset="0"/>
                        <a:cs typeface="Georgia"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endParaRPr lang="en-US" sz="2500" dirty="0">
                        <a:latin typeface="Georgia" charset="0"/>
                        <a:ea typeface="Georgia" charset="0"/>
                        <a:cs typeface="Georgia"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endParaRPr lang="en-US" sz="2500" dirty="0">
                        <a:latin typeface="Georgia" charset="0"/>
                        <a:ea typeface="Georgia" charset="0"/>
                        <a:cs typeface="Georgia"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endParaRPr lang="en-US" sz="2500" dirty="0">
                        <a:latin typeface="Georgia" charset="0"/>
                        <a:ea typeface="Georgia" charset="0"/>
                        <a:cs typeface="Georgia"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l">
                        <a:buNone/>
                      </a:pPr>
                      <a:endParaRPr lang="en-US" sz="2500" dirty="0">
                        <a:latin typeface="Georgia" charset="0"/>
                        <a:ea typeface="Georgia" charset="0"/>
                        <a:cs typeface="Georgia"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ns2:rowId val="3778629622"/>
                  </a:ext>
                </a:extLst>
              </a:tr>
              <a:tr h="0">
                <a:tc>
                  <a:txBody>
                    <a:bodyPr/>
                    <a:lstStyle/>
                    <a:p>
                      <a:pPr marL="0" indent="0" algn="ctr">
                        <a:buNone/>
                      </a:pPr>
                      <a:endParaRPr lang="en-US" sz="2500" dirty="0">
                        <a:latin typeface="Georgia" charset="0"/>
                        <a:ea typeface="Georgia" charset="0"/>
                        <a:cs typeface="Georgia"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endParaRPr lang="en-US" sz="2500" dirty="0">
                        <a:latin typeface="Georgia" charset="0"/>
                        <a:ea typeface="Georgia" charset="0"/>
                        <a:cs typeface="Georgia"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endParaRPr lang="en-US" sz="2500" dirty="0">
                        <a:latin typeface="Georgia" charset="0"/>
                        <a:ea typeface="Georgia" charset="0"/>
                        <a:cs typeface="Georgia"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endParaRPr lang="en-US" sz="2500" dirty="0">
                        <a:latin typeface="Georgia" charset="0"/>
                        <a:ea typeface="Georgia" charset="0"/>
                        <a:cs typeface="Georgia"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l">
                        <a:buNone/>
                      </a:pPr>
                      <a:endParaRPr lang="en-US" sz="2500" dirty="0">
                        <a:latin typeface="Georgia" charset="0"/>
                        <a:ea typeface="Georgia" charset="0"/>
                        <a:cs typeface="Georgia"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ns2:rowId val="1590153312"/>
                  </a:ext>
                </a:extLst>
              </a:tr>
              <a:tr h="0">
                <a:tc>
                  <a:txBody>
                    <a:bodyPr/>
                    <a:lstStyle/>
                    <a:p>
                      <a:pPr marL="0" indent="0" algn="ctr">
                        <a:buNone/>
                      </a:pPr>
                      <a:endParaRPr lang="en-US" sz="2500" dirty="0">
                        <a:latin typeface="Georgia" charset="0"/>
                        <a:ea typeface="Georgia" charset="0"/>
                        <a:cs typeface="Georgia"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marL="0" indent="0" algn="ctr">
                        <a:buNone/>
                      </a:pPr>
                      <a:endParaRPr lang="en-US" sz="2500" dirty="0">
                        <a:latin typeface="Georgia" charset="0"/>
                        <a:ea typeface="Georgia" charset="0"/>
                        <a:cs typeface="Georgia"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marL="0" indent="0" algn="ctr">
                        <a:buNone/>
                      </a:pPr>
                      <a:endParaRPr lang="en-US" sz="2500" dirty="0">
                        <a:latin typeface="Georgia" charset="0"/>
                        <a:ea typeface="Georgia" charset="0"/>
                        <a:cs typeface="Georgia"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marL="0" indent="0" algn="ctr">
                        <a:buNone/>
                      </a:pPr>
                      <a:endParaRPr lang="en-US" sz="2500" dirty="0">
                        <a:latin typeface="Georgia" charset="0"/>
                        <a:ea typeface="Georgia" charset="0"/>
                        <a:cs typeface="Georgia"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marL="0" indent="0">
                        <a:buNone/>
                      </a:pPr>
                      <a:endParaRPr lang="en-US" sz="25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extLst>
                  <a:ext uri="{0D108BD9-81ED-4DB2-BD59-A6C34878D82A}">
                    <ns2:rowId val="2840649309"/>
                  </a:ext>
                </a:extLst>
              </a:tr>
            </a:tbl>
          </a:graphicData>
        </a:graphic>
      </p:graphicFrame>
      <p:pic>
        <p:nvPicPr>
          <p:cNvPr id="2001" name="Workflow Diagram"/>
          <p:cNvPicPr>
            <a:picLocks noChangeAspect="1"/>
          </p:cNvPicPr>
          <p:nvPr/>
        </p:nvPicPr>
        <p:blipFill>
          <a:blip r:embed="rId2"/>
          <a:srcRect/>
          <a:stretch>
            <a:fillRect/>
          </a:stretch>
        </p:blipFill>
        <p:spPr>
          <a:xfrm>
            <a:off x="13550000" y="8350000"/>
            <a:ext cx="14900000" cy="14550000"/>
          </a:xfrm>
          <a:prstGeom prst="rect">
            <a:avLst/>
          </a:prstGeom>
        </p:spPr>
      </p:pic>
      <p:pic>
        <p:nvPicPr>
          <p:cNvPr id="2002" name="Evaluation Dimensions Diagram"/>
          <p:cNvPicPr>
            <a:picLocks noChangeAspect="1"/>
          </p:cNvPicPr>
          <p:nvPr/>
        </p:nvPicPr>
        <p:blipFill>
          <a:blip r:embed="rId3"/>
          <a:srcRect/>
          <a:stretch>
            <a:fillRect/>
          </a:stretch>
        </p:blipFill>
        <p:spPr>
          <a:xfrm>
            <a:off x="29250000" y="7500000"/>
            <a:ext cx="11900000" cy="7700000"/>
          </a:xfrm>
          <a:prstGeom prst="rect">
            <a:avLst/>
          </a:prstGeom>
        </p:spPr>
      </p:pic>
    </p:spTree>
    <p:extLst>
      <p:ext uri="{BB962C8B-B14F-4D97-AF65-F5344CB8AC3E}">
        <ns3:creationId val="499180586"/>
      </p:ext>
    </p:extLst>
  </p:cSld>
  <p:clrMapOvr>
    <a:masterClrMapping/>
  </p:clrMapOvr>
</p:sld>
</file>

<file path=ppt/theme/theme1.xml><?xml version="1.0" encoding="utf-8"?>
<a:theme xmlns:a="http://schemas.openxmlformats.org/drawingml/2006/main" name="Office Theme">
  <a:themeElements>
    <a:clrScheme name="UGA COLORS">
      <a:dk1>
        <a:srgbClr val="000000"/>
      </a:dk1>
      <a:lt1>
        <a:srgbClr val="FFFFFF"/>
      </a:lt1>
      <a:dk2>
        <a:srgbClr val="626362"/>
      </a:dk2>
      <a:lt2>
        <a:srgbClr val="D6D7D6"/>
      </a:lt2>
      <a:accent1>
        <a:srgbClr val="CC163D"/>
      </a:accent1>
      <a:accent2>
        <a:srgbClr val="E3DCC6"/>
      </a:accent2>
      <a:accent3>
        <a:srgbClr val="8B8F8D"/>
      </a:accent3>
      <a:accent4>
        <a:srgbClr val="5F5950"/>
      </a:accent4>
      <a:accent5>
        <a:srgbClr val="005B6C"/>
      </a:accent5>
      <a:accent6>
        <a:srgbClr val="777D24"/>
      </a:accent6>
      <a:hlink>
        <a:srgbClr val="00A2AB"/>
      </a:hlink>
      <a:folHlink>
        <a:srgbClr val="954F72"/>
      </a:folHlink>
    </a:clrScheme>
    <a:fontScheme name="Georgia">
      <a:majorFont>
        <a:latin typeface="Georgia" panose="020405020504050203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eorgia" panose="020405020504050203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2020 MFE COE Poster Template" id="{C9E26761-3961-D447-A747-F83B34CFBDA7}" vid="{BAA88D1A-2A35-E34E-B9C7-8E54F965E1A3}"/>
    </a:ext>
  </a:extLst>
</a:theme>
</file>

<file path=docProps/app.xml><?xml version="1.0" encoding="utf-8"?>
<Properties xmlns="http://schemas.openxmlformats.org/officeDocument/2006/extended-properties" xmlns:vt="http://schemas.openxmlformats.org/officeDocument/2006/docPropsVTypes">
  <Template>Office Theme</Template>
  <TotalTime>721</TotalTime>
  <Words>316</Words>
  <Application>Microsoft Macintosh PowerPoint</Application>
  <PresentationFormat>Custom</PresentationFormat>
  <Paragraphs>93</Paragraphs>
  <Slides>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Arial</vt:lpstr>
      <vt:lpstr>Georgia</vt:lpstr>
      <vt:lpstr>Oswald</vt:lpstr>
      <vt:lpstr>Oswald </vt:lpstr>
      <vt:lpstr>Wingdings</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ns0:coreProperties xmlns:dc="http://purl.org/dc/elements/1.1/" xmlns:ns0="http://schemas.openxmlformats.org/package/2006/metadata/core-properties" xmlns:ns2="http://purl.org/dc/terms/" xmlns:xsi="http://www.w3.org/2001/XMLSchema-instance">
  <dc:title>AI-Powered Resume Analyzer for ATS Optimization</dc:title>
  <dc:creator>Firoz Khan Patan</dc:creator>
  <ns0:lastModifiedBy>Firoz Khan Patan</ns0:lastModifiedBy>
  <ns0:revision>11</ns0:revision>
  <ns0:lastPrinted>2018-02-09T21:56:00Z</ns0:lastPrinted>
  <ns2:created xsi:type="dcterms:W3CDTF">2020-02-10T15:26:28Z</ns2:created>
  <ns2:modified xsi:type="dcterms:W3CDTF">2026-03-17T01:16:31Z</ns2:modified>
</ns0:coreProperties>
</file>